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73" r:id="rId4"/>
    <p:sldId id="271" r:id="rId5"/>
    <p:sldId id="257" r:id="rId6"/>
    <p:sldId id="270" r:id="rId7"/>
    <p:sldId id="261" r:id="rId8"/>
    <p:sldId id="264" r:id="rId9"/>
    <p:sldId id="258" r:id="rId10"/>
    <p:sldId id="265" r:id="rId11"/>
    <p:sldId id="262" r:id="rId12"/>
    <p:sldId id="266" r:id="rId13"/>
    <p:sldId id="263" r:id="rId14"/>
    <p:sldId id="267" r:id="rId15"/>
    <p:sldId id="274" r:id="rId16"/>
    <p:sldId id="275" r:id="rId17"/>
    <p:sldId id="260" r:id="rId18"/>
    <p:sldId id="269" r:id="rId19"/>
    <p:sldId id="276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962" autoAdjust="0"/>
  </p:normalViewPr>
  <p:slideViewPr>
    <p:cSldViewPr snapToGrid="0" snapToObjects="1">
      <p:cViewPr varScale="1">
        <p:scale>
          <a:sx n="128" d="100"/>
          <a:sy n="128" d="100"/>
        </p:scale>
        <p:origin x="11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71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75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73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72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49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37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361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625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15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7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1190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42081-B2C7-AF4A-AFB1-B6AB47BE3791}" type="datetimeFigureOut">
              <a:rPr lang="en-US" smtClean="0"/>
              <a:t>5/4/23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13963-7080-9B47-8AEB-398515A7FC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56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INDOCADORES 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Projeto HUC40: Proposta de indicadores</a:t>
            </a:r>
          </a:p>
        </p:txBody>
      </p:sp>
    </p:spTree>
    <p:extLst>
      <p:ext uri="{BB962C8B-B14F-4D97-AF65-F5344CB8AC3E}">
        <p14:creationId xmlns:p14="http://schemas.microsoft.com/office/powerpoint/2010/main" val="27752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2247"/>
          </a:xfrm>
        </p:spPr>
        <p:txBody>
          <a:bodyPr>
            <a:normAutofit/>
          </a:bodyPr>
          <a:lstStyle/>
          <a:p>
            <a:pPr algn="l"/>
            <a:r>
              <a:rPr lang="pt-BR" sz="3200" b="1" noProof="1"/>
              <a:t>Sobre</a:t>
            </a:r>
            <a:r>
              <a:rPr lang="pt-BR" sz="3200" noProof="1"/>
              <a:t> os valores para implementação  (1/2)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0358"/>
            <a:ext cx="8451022" cy="498316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sz="3600" b="1" dirty="0">
                <a:solidFill>
                  <a:srgbClr val="008000"/>
                </a:solidFill>
              </a:rPr>
              <a:t>O que compõe o </a:t>
            </a:r>
            <a:r>
              <a:rPr lang="pt-BR" sz="3600" b="1" dirty="0">
                <a:solidFill>
                  <a:srgbClr val="0000FF"/>
                </a:solidFill>
              </a:rPr>
              <a:t>tempo total programado </a:t>
            </a:r>
            <a:r>
              <a:rPr lang="pt-BR" sz="3600" b="1" dirty="0">
                <a:solidFill>
                  <a:srgbClr val="008000"/>
                </a:solidFill>
              </a:rPr>
              <a:t>da sala? </a:t>
            </a:r>
          </a:p>
          <a:p>
            <a:pPr marL="0" indent="0">
              <a:buNone/>
            </a:pPr>
            <a:r>
              <a:rPr lang="pt-BR" sz="3600" b="1" dirty="0">
                <a:solidFill>
                  <a:srgbClr val="FF0000"/>
                </a:solidFill>
              </a:rPr>
              <a:t>Inclui: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600" b="1" dirty="0">
                <a:solidFill>
                  <a:srgbClr val="000000"/>
                </a:solidFill>
              </a:rPr>
              <a:t>tempo de preparo da sala = (horário da sala preparada </a:t>
            </a:r>
            <a:r>
              <a:rPr lang="mr-IN" sz="3600" b="1" dirty="0">
                <a:solidFill>
                  <a:srgbClr val="000000"/>
                </a:solidFill>
              </a:rPr>
              <a:t>–</a:t>
            </a:r>
            <a:r>
              <a:rPr lang="pt-BR" sz="3600" b="1" dirty="0">
                <a:solidFill>
                  <a:srgbClr val="000000"/>
                </a:solidFill>
              </a:rPr>
              <a:t> horário do</a:t>
            </a:r>
            <a:br>
              <a:rPr lang="pt-BR" sz="3600" b="1" dirty="0">
                <a:solidFill>
                  <a:srgbClr val="000000"/>
                </a:solidFill>
              </a:rPr>
            </a:br>
            <a:r>
              <a:rPr lang="pt-BR" sz="3600" b="1" dirty="0">
                <a:solidFill>
                  <a:srgbClr val="000000"/>
                </a:solidFill>
              </a:rPr>
              <a:t>                                                    paciente anterior no REPAIR),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600" b="1" dirty="0">
                <a:solidFill>
                  <a:srgbClr val="000000"/>
                </a:solidFill>
              </a:rPr>
              <a:t>tempo de anestesia,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600" b="1" dirty="0">
                <a:solidFill>
                  <a:srgbClr val="000000"/>
                </a:solidFill>
              </a:rPr>
              <a:t>tempo de preparo do paciente (dentro do tempo de anestesia),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600" b="1" dirty="0">
                <a:solidFill>
                  <a:srgbClr val="000000"/>
                </a:solidFill>
              </a:rPr>
              <a:t>tempo de realização do procedimento cirúrgico (hora de incisão e sutura)?</a:t>
            </a:r>
          </a:p>
          <a:p>
            <a:pPr>
              <a:buFontTx/>
              <a:buChar char="•"/>
            </a:pPr>
            <a:endParaRPr lang="pt-BR" sz="3600" b="1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pt-BR" sz="3600" b="1" dirty="0">
                <a:solidFill>
                  <a:srgbClr val="008000"/>
                </a:solidFill>
              </a:rPr>
              <a:t>O que compõe o </a:t>
            </a:r>
            <a:r>
              <a:rPr lang="pt-BR" sz="3600" b="1" dirty="0">
                <a:solidFill>
                  <a:srgbClr val="0000FF"/>
                </a:solidFill>
              </a:rPr>
              <a:t>tempo total utilizado </a:t>
            </a:r>
            <a:r>
              <a:rPr lang="pt-BR" sz="3600" b="1" dirty="0">
                <a:solidFill>
                  <a:srgbClr val="008000"/>
                </a:solidFill>
              </a:rPr>
              <a:t>da sala? </a:t>
            </a:r>
          </a:p>
          <a:p>
            <a:pPr marL="0" indent="0">
              <a:buNone/>
            </a:pPr>
            <a:r>
              <a:rPr lang="pt-BR" sz="3600" b="1" dirty="0">
                <a:solidFill>
                  <a:srgbClr val="FF0000"/>
                </a:solidFill>
              </a:rPr>
              <a:t>Inclui: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600" b="1" dirty="0">
                <a:solidFill>
                  <a:srgbClr val="000000"/>
                </a:solidFill>
              </a:rPr>
              <a:t>tempo de preparo da sala = (horário da sala preparada </a:t>
            </a:r>
            <a:r>
              <a:rPr lang="mr-IN" sz="3600" b="1" dirty="0">
                <a:solidFill>
                  <a:srgbClr val="000000"/>
                </a:solidFill>
              </a:rPr>
              <a:t>–</a:t>
            </a:r>
            <a:r>
              <a:rPr lang="pt-BR" sz="3600" b="1" dirty="0">
                <a:solidFill>
                  <a:srgbClr val="000000"/>
                </a:solidFill>
              </a:rPr>
              <a:t> horário do</a:t>
            </a:r>
            <a:br>
              <a:rPr lang="pt-BR" sz="3600" b="1" dirty="0">
                <a:solidFill>
                  <a:srgbClr val="000000"/>
                </a:solidFill>
              </a:rPr>
            </a:br>
            <a:r>
              <a:rPr lang="pt-BR" sz="3600" b="1" dirty="0">
                <a:solidFill>
                  <a:srgbClr val="000000"/>
                </a:solidFill>
              </a:rPr>
              <a:t>                                                    paciente anterior no REPAIR),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600" b="1" dirty="0">
                <a:solidFill>
                  <a:srgbClr val="000000"/>
                </a:solidFill>
              </a:rPr>
              <a:t>tempo de anestesia,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600" b="1" dirty="0">
                <a:solidFill>
                  <a:srgbClr val="000000"/>
                </a:solidFill>
              </a:rPr>
              <a:t>tempo de preparo do paciente (dentro do tempo de anestesia),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600" b="1" dirty="0">
                <a:solidFill>
                  <a:srgbClr val="000000"/>
                </a:solidFill>
              </a:rPr>
              <a:t>tempo de realização do procedimento cirúrgico (hora de incisão e sutura)?</a:t>
            </a:r>
          </a:p>
          <a:p>
            <a:pPr>
              <a:buFontTx/>
              <a:buChar char="•"/>
            </a:pPr>
            <a:endParaRPr lang="pt-BR" sz="2200" b="1" cap="all" dirty="0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endParaRPr lang="pt-BR" sz="2200" b="1" cap="all" dirty="0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endParaRPr lang="pt-B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998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2247"/>
          </a:xfrm>
        </p:spPr>
        <p:txBody>
          <a:bodyPr>
            <a:normAutofit/>
          </a:bodyPr>
          <a:lstStyle/>
          <a:p>
            <a:pPr algn="l"/>
            <a:r>
              <a:rPr lang="pt-BR" sz="3200" b="1" noProof="1"/>
              <a:t>Sobre</a:t>
            </a:r>
            <a:r>
              <a:rPr lang="pt-BR" sz="3200" noProof="1"/>
              <a:t> os valores para implementação  (1/2)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0358"/>
            <a:ext cx="8451022" cy="4983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dirty="0">
                <a:solidFill>
                  <a:srgbClr val="008000"/>
                </a:solidFill>
              </a:rPr>
              <a:t>O que compõe o </a:t>
            </a:r>
            <a:r>
              <a:rPr lang="pt-BR" sz="2200" b="1" dirty="0">
                <a:solidFill>
                  <a:srgbClr val="0000FF"/>
                </a:solidFill>
              </a:rPr>
              <a:t>tempo total de cirurgia </a:t>
            </a:r>
            <a:r>
              <a:rPr lang="pt-BR" sz="2200" b="1" dirty="0">
                <a:solidFill>
                  <a:srgbClr val="008000"/>
                </a:solidFill>
              </a:rPr>
              <a:t>da sala? </a:t>
            </a:r>
          </a:p>
          <a:p>
            <a:pPr marL="0" indent="0">
              <a:buNone/>
            </a:pPr>
            <a:r>
              <a:rPr lang="pt-BR" sz="2200" b="1" dirty="0">
                <a:solidFill>
                  <a:srgbClr val="FF0000"/>
                </a:solidFill>
              </a:rPr>
              <a:t>Inclui: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b="1" dirty="0"/>
              <a:t>tempo de anestesia,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b="1" dirty="0"/>
              <a:t>tempo de realização do procedimento cirúrgico</a:t>
            </a:r>
            <a:r>
              <a:rPr lang="pt-BR" sz="2200" b="1" dirty="0">
                <a:solidFill>
                  <a:srgbClr val="008000"/>
                </a:solidFill>
              </a:rPr>
              <a:t>?</a:t>
            </a:r>
          </a:p>
          <a:p>
            <a:pPr>
              <a:buFontTx/>
              <a:buChar char="•"/>
            </a:pPr>
            <a:endParaRPr lang="pt-BR" sz="2200" b="1" cap="all" dirty="0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endParaRPr lang="pt-BR" sz="2200" b="1" cap="all" dirty="0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r>
              <a:rPr lang="pt-BR" sz="2200" b="1" dirty="0">
                <a:solidFill>
                  <a:srgbClr val="008000"/>
                </a:solidFill>
              </a:rPr>
              <a:t>que compõe o </a:t>
            </a:r>
            <a:r>
              <a:rPr lang="pt-BR" sz="2200" b="1" dirty="0">
                <a:solidFill>
                  <a:srgbClr val="0000FF"/>
                </a:solidFill>
              </a:rPr>
              <a:t>tempo total disponível </a:t>
            </a:r>
            <a:r>
              <a:rPr lang="pt-BR" sz="2200" b="1" dirty="0">
                <a:solidFill>
                  <a:srgbClr val="008000"/>
                </a:solidFill>
              </a:rPr>
              <a:t>da sala? </a:t>
            </a:r>
          </a:p>
          <a:p>
            <a:pPr marL="0" indent="0">
              <a:buNone/>
            </a:pPr>
            <a:r>
              <a:rPr lang="pt-BR" sz="2200" b="1" dirty="0">
                <a:solidFill>
                  <a:srgbClr val="FF0000"/>
                </a:solidFill>
              </a:rPr>
              <a:t>Inclui: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b="1" dirty="0"/>
              <a:t>tempo de disponível (</a:t>
            </a:r>
            <a:r>
              <a:rPr lang="pt-BR" sz="2200" b="1" dirty="0">
                <a:solidFill>
                  <a:srgbClr val="FF0000"/>
                </a:solidFill>
              </a:rPr>
              <a:t>valor informado pela administração, 24h ou intervalo das 06h as 21h</a:t>
            </a:r>
            <a:r>
              <a:rPr lang="pt-BR" sz="2200" b="1" dirty="0"/>
              <a:t>), </a:t>
            </a:r>
            <a:endParaRPr lang="pt-BR" sz="2200" b="1" dirty="0">
              <a:solidFill>
                <a:srgbClr val="008000"/>
              </a:solidFill>
            </a:endParaRPr>
          </a:p>
          <a:p>
            <a:pPr marL="514350" indent="-457200">
              <a:buFont typeface="+mj-lt"/>
              <a:buAutoNum type="arabicPeriod"/>
            </a:pPr>
            <a:r>
              <a:rPr lang="pt-BR" sz="2200" b="1" dirty="0"/>
              <a:t>tempo disponibilidade deve ser sempre maior que o tempo programado?</a:t>
            </a:r>
            <a:endParaRPr lang="pt-BR" sz="2200" b="1" cap="all" dirty="0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endParaRPr lang="pt-B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2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33145"/>
          </a:xfrm>
        </p:spPr>
        <p:txBody>
          <a:bodyPr>
            <a:normAutofit/>
          </a:bodyPr>
          <a:lstStyle/>
          <a:p>
            <a:pPr algn="l"/>
            <a:r>
              <a:rPr lang="pt-BR" sz="3200" b="1" noProof="1"/>
              <a:t>Sobre</a:t>
            </a:r>
            <a:r>
              <a:rPr lang="pt-BR" sz="3200" noProof="1"/>
              <a:t> os valores para implementação  (2/2)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7783"/>
            <a:ext cx="8451022" cy="4995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noProof="1">
                <a:solidFill>
                  <a:srgbClr val="008000"/>
                </a:solidFill>
              </a:rPr>
              <a:t>O que compõe o </a:t>
            </a:r>
            <a:r>
              <a:rPr lang="pt-BR" sz="2200" b="1" noProof="1">
                <a:solidFill>
                  <a:srgbClr val="0000FF"/>
                </a:solidFill>
              </a:rPr>
              <a:t>tempo total de agregação de valor </a:t>
            </a:r>
            <a:r>
              <a:rPr lang="pt-BR" sz="2200" b="1" noProof="1">
                <a:solidFill>
                  <a:srgbClr val="008000"/>
                </a:solidFill>
              </a:rPr>
              <a:t>da sala? </a:t>
            </a:r>
          </a:p>
          <a:p>
            <a:pPr marL="0" indent="0">
              <a:buNone/>
            </a:pPr>
            <a:r>
              <a:rPr lang="pt-BR" sz="2600" b="1" dirty="0">
                <a:solidFill>
                  <a:srgbClr val="FF0000"/>
                </a:solidFill>
              </a:rPr>
              <a:t>Inclui: </a:t>
            </a:r>
          </a:p>
          <a:p>
            <a:pPr marL="457200" lvl="1" indent="-457200">
              <a:buFont typeface="+mj-lt"/>
              <a:buAutoNum type="arabicPeriod"/>
            </a:pPr>
            <a:r>
              <a:rPr lang="pt-BR" sz="2400" dirty="0"/>
              <a:t>taxa de mortalidade (x1)</a:t>
            </a:r>
          </a:p>
          <a:p>
            <a:pPr marL="457200" lvl="1" indent="-457200">
              <a:buFont typeface="+mj-lt"/>
              <a:buAutoNum type="arabicPeriod"/>
            </a:pPr>
            <a:r>
              <a:rPr lang="pt-BR" sz="2400" dirty="0"/>
              <a:t>taxa de readmissão (x2)</a:t>
            </a:r>
          </a:p>
          <a:p>
            <a:pPr marL="457200" lvl="1" indent="-457200">
              <a:buFont typeface="+mj-lt"/>
              <a:buAutoNum type="arabicPeriod"/>
            </a:pPr>
            <a:r>
              <a:rPr lang="pt-BR" sz="2400" dirty="0"/>
              <a:t>taxa de </a:t>
            </a:r>
            <a:r>
              <a:rPr lang="pt-BR" sz="2400" dirty="0">
                <a:solidFill>
                  <a:srgbClr val="FF0000"/>
                </a:solidFill>
              </a:rPr>
              <a:t>insatisfação</a:t>
            </a:r>
            <a:r>
              <a:rPr lang="pt-BR" sz="2400" dirty="0"/>
              <a:t> do paciente </a:t>
            </a:r>
            <a:r>
              <a:rPr lang="pt-BR" sz="2000" dirty="0"/>
              <a:t>(x3)</a:t>
            </a:r>
            <a:endParaRPr lang="pt-BR" sz="2200" b="1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pt-BR" sz="2600" b="1" dirty="0">
                <a:solidFill>
                  <a:srgbClr val="FF0000"/>
                </a:solidFill>
              </a:rPr>
              <a:t>	1 </a:t>
            </a:r>
            <a:r>
              <a:rPr lang="mr-IN" sz="2600" b="1" dirty="0">
                <a:solidFill>
                  <a:srgbClr val="FF0000"/>
                </a:solidFill>
              </a:rPr>
              <a:t>–</a:t>
            </a:r>
            <a:r>
              <a:rPr lang="pt-BR" sz="2600" b="1" dirty="0">
                <a:solidFill>
                  <a:srgbClr val="FF0000"/>
                </a:solidFill>
              </a:rPr>
              <a:t> [ (x1 + x2 + x3) / 3 ]</a:t>
            </a:r>
          </a:p>
          <a:p>
            <a:pPr marL="0" indent="0">
              <a:buNone/>
            </a:pPr>
            <a:r>
              <a:rPr lang="pt-BR" sz="2600" b="1" dirty="0">
                <a:solidFill>
                  <a:srgbClr val="FF0000"/>
                </a:solidFill>
              </a:rPr>
              <a:t>OU</a:t>
            </a:r>
            <a:endParaRPr lang="pt-BR" sz="2200" b="1" dirty="0"/>
          </a:p>
          <a:p>
            <a:pPr marL="400050" lvl="1" indent="0">
              <a:buNone/>
            </a:pPr>
            <a:r>
              <a:rPr lang="pt-BR" sz="2200" b="1" dirty="0">
                <a:solidFill>
                  <a:srgbClr val="0000FF"/>
                </a:solidFill>
              </a:rPr>
              <a:t>(tempo de preparo da sala, tempo de preparo do paciente, tempo de anestesia, tempo de realização do procedimento cirúrgico, recuperação do paciente) </a:t>
            </a:r>
            <a:r>
              <a:rPr lang="mr-IN" sz="2200" b="1" dirty="0">
                <a:solidFill>
                  <a:srgbClr val="008000"/>
                </a:solidFill>
              </a:rPr>
              <a:t>–</a:t>
            </a:r>
            <a:r>
              <a:rPr lang="pt-BR" sz="2200" b="1" dirty="0">
                <a:solidFill>
                  <a:srgbClr val="008000"/>
                </a:solidFill>
              </a:rPr>
              <a:t> </a:t>
            </a:r>
            <a:r>
              <a:rPr lang="pt-BR" sz="2200" b="1" dirty="0">
                <a:solidFill>
                  <a:srgbClr val="FF0000"/>
                </a:solidFill>
              </a:rPr>
              <a:t>tempo de readmissão</a:t>
            </a:r>
          </a:p>
          <a:p>
            <a:pPr marL="400050" lvl="1" indent="0">
              <a:buNone/>
            </a:pPr>
            <a:endParaRPr lang="pt-BR" sz="2200" b="1" dirty="0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endParaRPr lang="pt-BR" sz="2200" b="1" dirty="0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endParaRPr lang="pt-BR" sz="2200" b="1" cap="all" dirty="0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endParaRPr lang="pt-BR" sz="2200" b="1" cap="all" dirty="0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endParaRPr lang="pt-B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341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noProof="1"/>
              <a:t>ORE Inclui indicadores de </a:t>
            </a:r>
            <a:r>
              <a:rPr lang="pt-BR" sz="2000" b="1" noProof="1"/>
              <a:t>Eficiência</a:t>
            </a:r>
            <a:r>
              <a:rPr lang="pt-BR" sz="2000" noProof="1"/>
              <a:t>, </a:t>
            </a:r>
            <a:r>
              <a:rPr lang="pt-BR" sz="2000" b="1" noProof="1"/>
              <a:t>Utilização</a:t>
            </a:r>
            <a:r>
              <a:rPr lang="pt-BR" sz="2000" noProof="1"/>
              <a:t> e </a:t>
            </a:r>
            <a:r>
              <a:rPr lang="pt-BR" sz="2000" b="1" noProof="1"/>
              <a:t>Tempo</a:t>
            </a: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O conceito de ORE foi introduzido por Nakajima como uma forma de medir a eficiência e eficácia da sala de operações. 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O ORE é definido como a medida da efetividade da sala de operações em relação ao tempo total disponível. 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Ele inclui três tipos de indicadores: </a:t>
            </a:r>
          </a:p>
          <a:p>
            <a:r>
              <a:rPr lang="pt-BR" sz="2000" b="1" dirty="0"/>
              <a:t>Disponibilidade</a:t>
            </a:r>
            <a:r>
              <a:rPr lang="pt-BR" sz="2000" dirty="0"/>
              <a:t>, </a:t>
            </a:r>
          </a:p>
          <a:p>
            <a:r>
              <a:rPr lang="pt-BR" sz="2000" b="1" dirty="0"/>
              <a:t>Eficiência</a:t>
            </a:r>
            <a:r>
              <a:rPr lang="pt-BR" sz="2000" dirty="0"/>
              <a:t> e </a:t>
            </a:r>
          </a:p>
          <a:p>
            <a:r>
              <a:rPr lang="pt-BR" sz="2000" b="1" dirty="0"/>
              <a:t>Qualidade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86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9364"/>
            <a:ext cx="9144000" cy="36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9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cap="all" dirty="0">
                <a:solidFill>
                  <a:srgbClr val="008000"/>
                </a:solidFill>
              </a:rPr>
              <a:t>Indicador de </a:t>
            </a:r>
            <a:r>
              <a:rPr lang="pt-BR" sz="2200" b="1" cap="all" dirty="0">
                <a:solidFill>
                  <a:srgbClr val="0000FF"/>
                </a:solidFill>
              </a:rPr>
              <a:t>Disponibilidade (DP)</a:t>
            </a:r>
          </a:p>
          <a:p>
            <a:pPr marL="0" indent="0">
              <a:buNone/>
            </a:pPr>
            <a:r>
              <a:rPr lang="pt-BR" sz="2000" dirty="0"/>
              <a:t>Mede o </a:t>
            </a:r>
            <a:r>
              <a:rPr lang="pt-BR" sz="2000" b="1" dirty="0"/>
              <a:t>tempo total de funcionamento da sala </a:t>
            </a:r>
            <a:r>
              <a:rPr lang="pt-BR" sz="2000" dirty="0"/>
              <a:t>para uso na sala de operações, incluindo o </a:t>
            </a:r>
            <a:r>
              <a:rPr lang="pt-BR" sz="2000" b="1" dirty="0"/>
              <a:t>tempo de inatividade programada</a:t>
            </a:r>
            <a:r>
              <a:rPr lang="pt-BR" sz="2000" dirty="0"/>
              <a:t>. </a:t>
            </a:r>
          </a:p>
          <a:p>
            <a:pPr marL="0" indent="0">
              <a:buNone/>
            </a:pPr>
            <a:endParaRPr lang="pt-BR" sz="2000" b="1" dirty="0"/>
          </a:p>
          <a:p>
            <a:pPr marL="895350" indent="-895350">
              <a:buNone/>
            </a:pPr>
            <a:r>
              <a:rPr lang="pt-BR" sz="2000" b="1" dirty="0">
                <a:solidFill>
                  <a:srgbClr val="0000FF"/>
                </a:solidFill>
              </a:rPr>
              <a:t>DP (%)</a:t>
            </a:r>
            <a:r>
              <a:rPr lang="pt-BR" sz="2000" dirty="0">
                <a:solidFill>
                  <a:srgbClr val="0000FF"/>
                </a:solidFill>
              </a:rPr>
              <a:t> </a:t>
            </a:r>
            <a:r>
              <a:rPr lang="pt-BR" sz="2000" dirty="0"/>
              <a:t>= [(</a:t>
            </a:r>
            <a:r>
              <a:rPr lang="pt-BR" sz="2000" b="1" dirty="0">
                <a:solidFill>
                  <a:srgbClr val="000000"/>
                </a:solidFill>
              </a:rPr>
              <a:t>Tempo de funcionamento da sala </a:t>
            </a:r>
            <a:r>
              <a:rPr lang="pt-BR" sz="2000" dirty="0">
                <a:solidFill>
                  <a:srgbClr val="000000"/>
                </a:solidFill>
              </a:rPr>
              <a:t>- </a:t>
            </a:r>
            <a:r>
              <a:rPr lang="pt-BR" sz="2000" b="1" dirty="0">
                <a:solidFill>
                  <a:srgbClr val="000000"/>
                </a:solidFill>
              </a:rPr>
              <a:t>Tempo de Inatividade Programada</a:t>
            </a:r>
            <a:r>
              <a:rPr lang="pt-BR" sz="2000" dirty="0">
                <a:solidFill>
                  <a:srgbClr val="000000"/>
                </a:solidFill>
              </a:rPr>
              <a:t>) / </a:t>
            </a:r>
            <a:r>
              <a:rPr lang="pt-BR" sz="2000" b="1" dirty="0">
                <a:solidFill>
                  <a:srgbClr val="000000"/>
                </a:solidFill>
              </a:rPr>
              <a:t>Tempo Total Disponível</a:t>
            </a:r>
            <a:r>
              <a:rPr lang="pt-BR" sz="2000" dirty="0"/>
              <a:t>] </a:t>
            </a:r>
            <a:r>
              <a:rPr lang="pt-BR" sz="2000" dirty="0" err="1"/>
              <a:t>x</a:t>
            </a:r>
            <a:r>
              <a:rPr lang="pt-BR" sz="2000" dirty="0"/>
              <a:t> 100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Onde:</a:t>
            </a:r>
          </a:p>
          <a:p>
            <a:r>
              <a:rPr lang="pt-BR" sz="2000" b="1" dirty="0">
                <a:solidFill>
                  <a:srgbClr val="000000"/>
                </a:solidFill>
              </a:rPr>
              <a:t>Tempo Total Disponível </a:t>
            </a:r>
            <a:r>
              <a:rPr lang="pt-BR" sz="2000" dirty="0"/>
              <a:t>é o tempo que a na sala de operações está disponível para uso (</a:t>
            </a:r>
            <a:r>
              <a:rPr lang="pt-BR" sz="2000" dirty="0" err="1"/>
              <a:t>ex</a:t>
            </a:r>
            <a:r>
              <a:rPr lang="pt-BR" sz="2000" dirty="0"/>
              <a:t>: 24h, das 06h as 21h).</a:t>
            </a:r>
          </a:p>
          <a:p>
            <a:r>
              <a:rPr lang="pt-BR" sz="2000" b="1" dirty="0">
                <a:solidFill>
                  <a:srgbClr val="000000"/>
                </a:solidFill>
              </a:rPr>
              <a:t>Tempo de Inatividade Programada</a:t>
            </a:r>
            <a:r>
              <a:rPr lang="pt-BR" sz="2000" dirty="0">
                <a:solidFill>
                  <a:srgbClr val="000000"/>
                </a:solidFill>
              </a:rPr>
              <a:t> é o tempo em que a sala de operações está programada para estar inativa (e.g., intervalo para almoço, troca de turno ou manutenção).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714" y="3771391"/>
            <a:ext cx="4246311" cy="702146"/>
          </a:xfrm>
          <a:prstGeom prst="rect">
            <a:avLst/>
          </a:prstGeom>
          <a:solidFill>
            <a:schemeClr val="tx1"/>
          </a:solidFill>
          <a:ln w="12700" cmpd="sng"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820952" y="4473537"/>
            <a:ext cx="184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b="1" dirty="0">
              <a:solidFill>
                <a:srgbClr val="FF0000"/>
              </a:solidFill>
            </a:endParaRPr>
          </a:p>
          <a:p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17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cap="all" dirty="0">
                <a:solidFill>
                  <a:srgbClr val="008000"/>
                </a:solidFill>
              </a:rPr>
              <a:t>EXEMPLO DE CÁLCULO DO Indicador de </a:t>
            </a:r>
            <a:r>
              <a:rPr lang="pt-BR" sz="2200" b="1" cap="all" dirty="0">
                <a:solidFill>
                  <a:srgbClr val="0000FF"/>
                </a:solidFill>
              </a:rPr>
              <a:t>Disponibilidade (DP)</a:t>
            </a:r>
            <a:endParaRPr lang="pt-BR" sz="2200" b="1" cap="all" dirty="0">
              <a:solidFill>
                <a:srgbClr val="008000"/>
              </a:solidFill>
            </a:endParaRPr>
          </a:p>
          <a:p>
            <a:pPr marL="0" indent="0">
              <a:buNone/>
            </a:pPr>
            <a:endParaRPr lang="pt-BR" sz="20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Tempo de funcionamento da sala </a:t>
            </a:r>
            <a:r>
              <a:rPr lang="pt-BR" sz="2000" b="1" dirty="0">
                <a:solidFill>
                  <a:srgbClr val="0000FF"/>
                </a:solidFill>
              </a:rPr>
              <a:t>(TFS) = 8h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Tempo de inatividade programada </a:t>
            </a:r>
            <a:r>
              <a:rPr lang="pt-BR" sz="2000" b="1" dirty="0">
                <a:solidFill>
                  <a:srgbClr val="0000FF"/>
                </a:solidFill>
              </a:rPr>
              <a:t>(TIP) = 1h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Tempo Total Disponível </a:t>
            </a:r>
            <a:r>
              <a:rPr lang="pt-BR" sz="2000" b="1" dirty="0">
                <a:solidFill>
                  <a:srgbClr val="0000FF"/>
                </a:solidFill>
              </a:rPr>
              <a:t>(TTD) = TFS + TIP = 9h</a:t>
            </a:r>
          </a:p>
          <a:p>
            <a:pPr marL="0" indent="0">
              <a:buNone/>
            </a:pPr>
            <a:endParaRPr lang="pt-BR" sz="2000" b="1" dirty="0"/>
          </a:p>
          <a:p>
            <a:pPr marL="895350" indent="-895350">
              <a:buNone/>
            </a:pPr>
            <a:r>
              <a:rPr lang="pt-BR" sz="2000" b="1" dirty="0"/>
              <a:t>DP (%)</a:t>
            </a:r>
            <a:r>
              <a:rPr lang="pt-BR" sz="2000" dirty="0"/>
              <a:t> = [(</a:t>
            </a:r>
            <a:r>
              <a:rPr lang="pt-BR" sz="2000" b="1" dirty="0">
                <a:solidFill>
                  <a:srgbClr val="000000"/>
                </a:solidFill>
              </a:rPr>
              <a:t>TTP </a:t>
            </a:r>
            <a:r>
              <a:rPr lang="mr-IN" sz="2000" dirty="0">
                <a:solidFill>
                  <a:srgbClr val="000000"/>
                </a:solidFill>
              </a:rPr>
              <a:t>–</a:t>
            </a:r>
            <a:r>
              <a:rPr lang="pt-BR" sz="2000" dirty="0">
                <a:solidFill>
                  <a:srgbClr val="000000"/>
                </a:solidFill>
              </a:rPr>
              <a:t> </a:t>
            </a:r>
            <a:r>
              <a:rPr lang="pt-BR" sz="2000" b="1" dirty="0">
                <a:solidFill>
                  <a:srgbClr val="000000"/>
                </a:solidFill>
              </a:rPr>
              <a:t>TIP</a:t>
            </a:r>
            <a:r>
              <a:rPr lang="pt-BR" sz="2000" dirty="0">
                <a:solidFill>
                  <a:srgbClr val="000000"/>
                </a:solidFill>
              </a:rPr>
              <a:t>) / </a:t>
            </a:r>
            <a:r>
              <a:rPr lang="pt-BR" sz="2000" b="1" dirty="0">
                <a:solidFill>
                  <a:srgbClr val="000000"/>
                </a:solidFill>
              </a:rPr>
              <a:t>TTD</a:t>
            </a:r>
            <a:r>
              <a:rPr lang="pt-BR" sz="2000" dirty="0"/>
              <a:t>] </a:t>
            </a:r>
            <a:r>
              <a:rPr lang="pt-BR" sz="2000" dirty="0" err="1"/>
              <a:t>x</a:t>
            </a:r>
            <a:r>
              <a:rPr lang="pt-BR" sz="2000" dirty="0"/>
              <a:t> 100</a:t>
            </a:r>
          </a:p>
          <a:p>
            <a:pPr marL="0" indent="0">
              <a:buNone/>
            </a:pPr>
            <a:r>
              <a:rPr lang="pt-BR" sz="2000" b="1" dirty="0"/>
              <a:t>DP (%)</a:t>
            </a:r>
            <a:r>
              <a:rPr lang="pt-BR" sz="2000" dirty="0"/>
              <a:t> = [(9h </a:t>
            </a:r>
            <a:r>
              <a:rPr lang="mr-IN" sz="2000" dirty="0"/>
              <a:t>–</a:t>
            </a:r>
            <a:r>
              <a:rPr lang="pt-BR" sz="2000" dirty="0"/>
              <a:t> 1h) / 9h] </a:t>
            </a:r>
            <a:r>
              <a:rPr lang="pt-BR" sz="2000" dirty="0" err="1"/>
              <a:t>x</a:t>
            </a:r>
            <a:r>
              <a:rPr lang="pt-BR" sz="2000" dirty="0"/>
              <a:t> 100 = 89%</a:t>
            </a:r>
          </a:p>
        </p:txBody>
      </p:sp>
    </p:spTree>
    <p:extLst>
      <p:ext uri="{BB962C8B-B14F-4D97-AF65-F5344CB8AC3E}">
        <p14:creationId xmlns:p14="http://schemas.microsoft.com/office/powerpoint/2010/main" val="2800592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arenBoth"/>
            </a:pPr>
            <a:r>
              <a:rPr lang="pt-BR" sz="2200" b="1" cap="all" noProof="1">
                <a:solidFill>
                  <a:srgbClr val="008000"/>
                </a:solidFill>
              </a:rPr>
              <a:t>Indicador de Eficiência DO</a:t>
            </a:r>
          </a:p>
          <a:p>
            <a:pPr marL="0" indent="0">
              <a:buNone/>
            </a:pPr>
            <a:endParaRPr lang="pt-BR" sz="2000" b="1" noProof="1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Tempo Total Programado (TTPe)</a:t>
            </a:r>
            <a:r>
              <a:rPr lang="pt-BR" sz="2000" noProof="1"/>
              <a:t>: é o </a:t>
            </a:r>
            <a:r>
              <a:rPr lang="pt-BR" sz="2000" b="1" noProof="1"/>
              <a:t>tempo total utilizado </a:t>
            </a:r>
            <a:r>
              <a:rPr lang="pt-BR" sz="2000" noProof="1"/>
              <a:t>em relação ao </a:t>
            </a:r>
            <a:r>
              <a:rPr lang="pt-BR" sz="2000" b="1" noProof="1"/>
              <a:t>tempo total programado</a:t>
            </a:r>
            <a:r>
              <a:rPr lang="pt-BR" sz="2000" noProof="1"/>
              <a:t>. É um indicador de eficiência para utilização do tempo programado.</a:t>
            </a:r>
          </a:p>
          <a:p>
            <a:pPr marL="0" indent="0">
              <a:buNone/>
            </a:pPr>
            <a:endParaRPr lang="pt-BR" sz="2000" noProof="1"/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Tempo de funcionamento da sala </a:t>
            </a:r>
            <a:r>
              <a:rPr lang="pt-BR" sz="2000" b="1" dirty="0">
                <a:solidFill>
                  <a:srgbClr val="0000FF"/>
                </a:solidFill>
              </a:rPr>
              <a:t>(TFS</a:t>
            </a:r>
            <a:r>
              <a:rPr lang="pt-BR" sz="1600" b="1" dirty="0">
                <a:solidFill>
                  <a:srgbClr val="0000FF"/>
                </a:solidFill>
              </a:rPr>
              <a:t>)         </a:t>
            </a:r>
            <a:r>
              <a:rPr lang="pt-BR" sz="1600" b="1" dirty="0">
                <a:solidFill>
                  <a:srgbClr val="FF0000"/>
                </a:solidFill>
              </a:rPr>
              <a:t>quando o médico começa a cirurgia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Tempo de inatividade programada </a:t>
            </a:r>
            <a:r>
              <a:rPr lang="pt-BR" sz="2000" b="1" dirty="0">
                <a:solidFill>
                  <a:srgbClr val="0000FF"/>
                </a:solidFill>
              </a:rPr>
              <a:t>(TIP)     </a:t>
            </a:r>
            <a:r>
              <a:rPr lang="pt-BR" sz="1600" b="1" dirty="0">
                <a:solidFill>
                  <a:srgbClr val="FF0000"/>
                </a:solidFill>
              </a:rPr>
              <a:t>tempo ocioso do paciente dentro na sala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Tempo Total Programado </a:t>
            </a:r>
            <a:r>
              <a:rPr lang="pt-BR" sz="2000" b="1" dirty="0">
                <a:solidFill>
                  <a:srgbClr val="0000FF"/>
                </a:solidFill>
              </a:rPr>
              <a:t>(TTP) = TFS + TIP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FF"/>
                </a:solidFill>
              </a:rPr>
              <a:t>Tempo Total Utilizado (TTU) </a:t>
            </a:r>
            <a:endParaRPr lang="pt-BR" sz="2000" noProof="1"/>
          </a:p>
          <a:p>
            <a:pPr marL="0" indent="0">
              <a:buNone/>
            </a:pPr>
            <a:endParaRPr lang="pt-BR" sz="2000" b="1" noProof="1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TTPe (%)</a:t>
            </a:r>
            <a:r>
              <a:rPr lang="pt-BR" sz="2000" noProof="1"/>
              <a:t> = (</a:t>
            </a:r>
            <a:r>
              <a:rPr lang="pt-BR" sz="2000" b="1" noProof="1"/>
              <a:t>Tempo total utilizado </a:t>
            </a:r>
            <a:r>
              <a:rPr lang="pt-BR" sz="2000" noProof="1"/>
              <a:t>/ </a:t>
            </a:r>
            <a:r>
              <a:rPr lang="pt-BR" sz="2000" b="1" noProof="1"/>
              <a:t>Tempo total programado</a:t>
            </a:r>
            <a:r>
              <a:rPr lang="pt-BR" sz="2000" noProof="1"/>
              <a:t>) x 100</a:t>
            </a:r>
          </a:p>
        </p:txBody>
      </p:sp>
    </p:spTree>
    <p:extLst>
      <p:ext uri="{BB962C8B-B14F-4D97-AF65-F5344CB8AC3E}">
        <p14:creationId xmlns:p14="http://schemas.microsoft.com/office/powerpoint/2010/main" val="2853642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cap="all" dirty="0">
                <a:solidFill>
                  <a:srgbClr val="008000"/>
                </a:solidFill>
              </a:rPr>
              <a:t>EXEMPLO DE CÁLCULO DO </a:t>
            </a:r>
            <a:endParaRPr lang="pt-BR" sz="2200" b="1" cap="all" noProof="1">
              <a:solidFill>
                <a:srgbClr val="008000"/>
              </a:solidFill>
            </a:endParaRPr>
          </a:p>
          <a:p>
            <a:pPr marL="457200" indent="-457200">
              <a:buAutoNum type="arabicParenBoth"/>
            </a:pPr>
            <a:r>
              <a:rPr lang="pt-BR" sz="2200" b="1" cap="all" noProof="1">
                <a:solidFill>
                  <a:srgbClr val="008000"/>
                </a:solidFill>
              </a:rPr>
              <a:t>Indicador de Eficiência DE </a:t>
            </a:r>
            <a:r>
              <a:rPr lang="pt-BR" sz="2000" b="1" noProof="1">
                <a:solidFill>
                  <a:srgbClr val="0000FF"/>
                </a:solidFill>
              </a:rPr>
              <a:t>Tempo Total Programado (TTPe)</a:t>
            </a:r>
            <a:endParaRPr lang="pt-BR" sz="2000" b="1" cap="all" noProof="1">
              <a:solidFill>
                <a:srgbClr val="008000"/>
              </a:solidFill>
            </a:endParaRPr>
          </a:p>
          <a:p>
            <a:pPr marL="0" indent="0">
              <a:buNone/>
            </a:pPr>
            <a:endParaRPr lang="pt-BR" sz="20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Tempo de funcionamento da sala </a:t>
            </a:r>
            <a:r>
              <a:rPr lang="pt-BR" sz="2000" b="1" dirty="0">
                <a:solidFill>
                  <a:srgbClr val="0000FF"/>
                </a:solidFill>
              </a:rPr>
              <a:t>(TFS) = 7h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Tempo de inatividade programada </a:t>
            </a:r>
            <a:r>
              <a:rPr lang="pt-BR" sz="2000" b="1" dirty="0">
                <a:solidFill>
                  <a:srgbClr val="0000FF"/>
                </a:solidFill>
              </a:rPr>
              <a:t>(TIP) = 1h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Tempo Total Programado </a:t>
            </a:r>
            <a:r>
              <a:rPr lang="pt-BR" sz="2000" b="1" dirty="0">
                <a:solidFill>
                  <a:srgbClr val="0000FF"/>
                </a:solidFill>
              </a:rPr>
              <a:t>(TTP) = TFS + TIP = 8h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FF"/>
                </a:solidFill>
              </a:rPr>
              <a:t>Tempo Total Utilizado (TTU) =  3h</a:t>
            </a:r>
          </a:p>
          <a:p>
            <a:pPr marL="0" indent="0">
              <a:buNone/>
            </a:pPr>
            <a:endParaRPr lang="pt-BR" sz="2000" b="1" noProof="1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TTPe (%)</a:t>
            </a:r>
            <a:r>
              <a:rPr lang="pt-BR" sz="2000" noProof="1"/>
              <a:t> = (</a:t>
            </a:r>
            <a:r>
              <a:rPr lang="pt-BR" sz="2000" b="1" noProof="1"/>
              <a:t>TTU </a:t>
            </a:r>
            <a:r>
              <a:rPr lang="pt-BR" sz="2000" noProof="1"/>
              <a:t>/ </a:t>
            </a:r>
            <a:r>
              <a:rPr lang="pt-BR" sz="2000" b="1" noProof="1"/>
              <a:t>TTP</a:t>
            </a:r>
            <a:r>
              <a:rPr lang="pt-BR" sz="2000" noProof="1"/>
              <a:t>) x 100</a:t>
            </a: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TTPe (%)</a:t>
            </a:r>
            <a:r>
              <a:rPr lang="pt-BR" sz="2000" noProof="1"/>
              <a:t> = (</a:t>
            </a:r>
            <a:r>
              <a:rPr lang="pt-BR" sz="2000" b="1" noProof="1"/>
              <a:t>3 </a:t>
            </a:r>
            <a:r>
              <a:rPr lang="pt-BR" sz="2000" noProof="1"/>
              <a:t>/ </a:t>
            </a:r>
            <a:r>
              <a:rPr lang="pt-BR" sz="2000" b="1" noProof="1"/>
              <a:t>8</a:t>
            </a:r>
            <a:r>
              <a:rPr lang="pt-BR" sz="2000" noProof="1"/>
              <a:t>) x 100 = 37,5%</a:t>
            </a:r>
          </a:p>
          <a:p>
            <a:pPr marL="0" indent="0">
              <a:buNone/>
            </a:pPr>
            <a:endParaRPr lang="pt-BR" sz="2000" noProof="1"/>
          </a:p>
          <a:p>
            <a:pPr marL="0" indent="0">
              <a:buNone/>
            </a:pPr>
            <a:r>
              <a:rPr lang="pt-BR" sz="2000" b="1" noProof="1">
                <a:solidFill>
                  <a:srgbClr val="FF0000"/>
                </a:solidFill>
              </a:rPr>
              <a:t>Pode haver situações onde Utilizado é maior que o Programado?</a:t>
            </a:r>
            <a:endParaRPr lang="pt-BR" sz="2000" noProof="1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878" y="4035961"/>
            <a:ext cx="4400230" cy="931169"/>
          </a:xfrm>
          <a:prstGeom prst="rect">
            <a:avLst/>
          </a:prstGeom>
          <a:solidFill>
            <a:srgbClr val="000000"/>
          </a:solidFill>
          <a:ln>
            <a:solidFill>
              <a:srgbClr val="907F76"/>
            </a:solidFill>
          </a:ln>
        </p:spPr>
      </p:pic>
    </p:spTree>
    <p:extLst>
      <p:ext uri="{BB962C8B-B14F-4D97-AF65-F5344CB8AC3E}">
        <p14:creationId xmlns:p14="http://schemas.microsoft.com/office/powerpoint/2010/main" val="2615936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cap="all" noProof="1">
                <a:solidFill>
                  <a:srgbClr val="008000"/>
                </a:solidFill>
              </a:rPr>
              <a:t>(2) Indicador de Eficiência DO</a:t>
            </a:r>
            <a:endParaRPr lang="pt-BR" sz="2000" noProof="1"/>
          </a:p>
          <a:p>
            <a:pPr marL="0" indent="0">
              <a:buNone/>
            </a:pPr>
            <a:endParaRPr lang="pt-BR" sz="2000" noProof="1"/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Tempo Total Utilizado (TTUe)</a:t>
            </a:r>
            <a:r>
              <a:rPr lang="pt-BR" sz="2000" noProof="1"/>
              <a:t>: é o </a:t>
            </a:r>
            <a:r>
              <a:rPr lang="pt-BR" sz="2000" b="1" noProof="1"/>
              <a:t>tempo total de cirurgia </a:t>
            </a:r>
            <a:r>
              <a:rPr lang="pt-BR" sz="2000" noProof="1"/>
              <a:t>em relação ao </a:t>
            </a:r>
            <a:r>
              <a:rPr lang="pt-BR" sz="2000" b="1" noProof="1"/>
              <a:t>tempo total utilizado </a:t>
            </a:r>
            <a:r>
              <a:rPr lang="pt-BR" sz="2000" noProof="1"/>
              <a:t>da </a:t>
            </a:r>
            <a:r>
              <a:rPr lang="pt-BR" sz="2000" b="1" noProof="1">
                <a:solidFill>
                  <a:srgbClr val="FF0000"/>
                </a:solidFill>
              </a:rPr>
              <a:t>sala</a:t>
            </a:r>
            <a:r>
              <a:rPr lang="pt-BR" sz="2000" noProof="1"/>
              <a:t> de operações. É um indicador de eficiência do processo cirúrgico.</a:t>
            </a:r>
          </a:p>
          <a:p>
            <a:pPr marL="0" indent="0">
              <a:buNone/>
            </a:pPr>
            <a:endParaRPr lang="pt-BR" sz="2000" noProof="1"/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TTUe (%) </a:t>
            </a:r>
            <a:r>
              <a:rPr lang="pt-BR" sz="2000" noProof="1"/>
              <a:t>= (</a:t>
            </a:r>
            <a:r>
              <a:rPr lang="pt-BR" sz="2000" b="1" noProof="1"/>
              <a:t>Tempo total de cirurgia </a:t>
            </a:r>
            <a:r>
              <a:rPr lang="pt-BR" sz="2000" noProof="1"/>
              <a:t>/ </a:t>
            </a:r>
            <a:r>
              <a:rPr lang="pt-BR" sz="2000" b="1" noProof="1"/>
              <a:t>Tempo total utilizado</a:t>
            </a:r>
            <a:r>
              <a:rPr lang="pt-BR" sz="2000" noProof="1"/>
              <a:t>) x 100</a:t>
            </a:r>
          </a:p>
          <a:p>
            <a:pPr marL="0" indent="0">
              <a:buNone/>
            </a:pPr>
            <a:endParaRPr lang="pt-BR" sz="2000" noProof="1"/>
          </a:p>
          <a:p>
            <a:pPr marL="0" indent="0">
              <a:buNone/>
            </a:pPr>
            <a:r>
              <a:rPr lang="pt-BR" sz="2000" b="1" noProof="1"/>
              <a:t>Tempo total de cirurgia </a:t>
            </a:r>
            <a:r>
              <a:rPr lang="pt-BR" sz="2000" noProof="1"/>
              <a:t>é “Parâmetro” (</a:t>
            </a:r>
            <a:r>
              <a:rPr lang="pt-BR" sz="2000" noProof="1">
                <a:solidFill>
                  <a:srgbClr val="FF0000"/>
                </a:solidFill>
              </a:rPr>
              <a:t>INFORMADO PELO MÉDICO</a:t>
            </a:r>
            <a:r>
              <a:rPr lang="pt-BR" sz="2000" noProof="1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65085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cap="all" dirty="0">
                <a:solidFill>
                  <a:srgbClr val="008000"/>
                </a:solidFill>
              </a:rPr>
              <a:t>EXEMPLO DE CÁLCULO DO </a:t>
            </a:r>
            <a:endParaRPr lang="pt-BR" sz="2200" b="1" cap="all" noProof="1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pt-BR" sz="2200" b="1" cap="all" noProof="1">
                <a:solidFill>
                  <a:srgbClr val="008000"/>
                </a:solidFill>
              </a:rPr>
              <a:t>(2) Indicador de Eficiência DE </a:t>
            </a:r>
            <a:r>
              <a:rPr lang="pt-BR" sz="2000" b="1" noProof="1">
                <a:solidFill>
                  <a:srgbClr val="0000FF"/>
                </a:solidFill>
              </a:rPr>
              <a:t>Tempo Total Utilizado (TTUe)</a:t>
            </a:r>
            <a:endParaRPr lang="pt-BR" sz="2000" noProof="1"/>
          </a:p>
          <a:p>
            <a:pPr marL="0" indent="0">
              <a:buNone/>
            </a:pPr>
            <a:endParaRPr lang="pt-BR" sz="2000" b="1" noProof="1"/>
          </a:p>
          <a:p>
            <a:pPr marL="0" indent="0">
              <a:buNone/>
            </a:pPr>
            <a:r>
              <a:rPr lang="pt-BR" sz="2000" b="1" noProof="1"/>
              <a:t>Tempo total de cirurgia </a:t>
            </a:r>
            <a:r>
              <a:rPr lang="pt-BR" sz="2000" b="1" dirty="0"/>
              <a:t>(TTC) = 2h</a:t>
            </a:r>
          </a:p>
          <a:p>
            <a:pPr marL="0" indent="0">
              <a:buNone/>
            </a:pPr>
            <a:r>
              <a:rPr lang="pt-BR" sz="2000" b="1" dirty="0"/>
              <a:t>Tempo total utilizado (TTU) =  3h</a:t>
            </a:r>
          </a:p>
          <a:p>
            <a:pPr marL="0" indent="0">
              <a:buNone/>
            </a:pPr>
            <a:endParaRPr lang="pt-BR" sz="2000" noProof="1"/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TTUe (%) </a:t>
            </a:r>
            <a:r>
              <a:rPr lang="pt-BR" sz="2000" noProof="1"/>
              <a:t>= (</a:t>
            </a:r>
            <a:r>
              <a:rPr lang="pt-BR" sz="2000" b="1" noProof="1"/>
              <a:t>TTC </a:t>
            </a:r>
            <a:r>
              <a:rPr lang="pt-BR" sz="2000" noProof="1"/>
              <a:t>/ </a:t>
            </a:r>
            <a:r>
              <a:rPr lang="pt-BR" sz="2000" b="1" noProof="1"/>
              <a:t>TTU</a:t>
            </a:r>
            <a:r>
              <a:rPr lang="pt-BR" sz="2000" noProof="1"/>
              <a:t>) x 100</a:t>
            </a: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TTUe (%) </a:t>
            </a:r>
            <a:r>
              <a:rPr lang="pt-BR" sz="2000" noProof="1"/>
              <a:t>= (</a:t>
            </a:r>
            <a:r>
              <a:rPr lang="pt-BR" sz="2000" b="1" noProof="1"/>
              <a:t>2h </a:t>
            </a:r>
            <a:r>
              <a:rPr lang="pt-BR" sz="2000" noProof="1"/>
              <a:t>/ </a:t>
            </a:r>
            <a:r>
              <a:rPr lang="pt-BR" sz="2000" b="1" noProof="1"/>
              <a:t>3h</a:t>
            </a:r>
            <a:r>
              <a:rPr lang="pt-BR" sz="2000" noProof="1"/>
              <a:t>) x 100 = 67%</a:t>
            </a:r>
          </a:p>
        </p:txBody>
      </p:sp>
    </p:spTree>
    <p:extLst>
      <p:ext uri="{BB962C8B-B14F-4D97-AF65-F5344CB8AC3E}">
        <p14:creationId xmlns:p14="http://schemas.microsoft.com/office/powerpoint/2010/main" val="1160363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9669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cap="all" dirty="0">
                <a:solidFill>
                  <a:srgbClr val="008000"/>
                </a:solidFill>
              </a:rPr>
              <a:t>(3) Indicador de Eficiência DO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FF"/>
                </a:solidFill>
              </a:rPr>
              <a:t>Tempo Total de agregação de Valor (TTAVe)</a:t>
            </a:r>
            <a:r>
              <a:rPr lang="pt-BR" sz="2000" dirty="0"/>
              <a:t>: é o </a:t>
            </a:r>
            <a:r>
              <a:rPr lang="pt-BR" sz="2000" b="1" dirty="0"/>
              <a:t>tempo total de cirurgia </a:t>
            </a:r>
            <a:r>
              <a:rPr lang="pt-BR" sz="2000" dirty="0"/>
              <a:t>em relação ao </a:t>
            </a:r>
            <a:r>
              <a:rPr lang="pt-BR" sz="2000" b="1" dirty="0"/>
              <a:t>tempo total de agregação de valor</a:t>
            </a:r>
            <a:r>
              <a:rPr lang="pt-BR" sz="2000" dirty="0"/>
              <a:t>. É um indicador de eficiência que mede a qualidade do processo de atendimento ao paciente em relação ao </a:t>
            </a:r>
            <a:r>
              <a:rPr lang="pt-BR" sz="2000" b="1" dirty="0"/>
              <a:t>tempo total de agregação de valor</a:t>
            </a:r>
            <a:r>
              <a:rPr lang="pt-BR" sz="2000" dirty="0"/>
              <a:t>. Ele leva em conta dados de resultados clínicos, como a </a:t>
            </a:r>
            <a:r>
              <a:rPr lang="pt-BR" sz="2000" b="1" dirty="0">
                <a:solidFill>
                  <a:srgbClr val="FF0000"/>
                </a:solidFill>
              </a:rPr>
              <a:t>taxa de mortalidade e a taxa de readmissão, bem como taxa de satisfação do paciente</a:t>
            </a:r>
            <a:r>
              <a:rPr lang="pt-BR" sz="2000" dirty="0"/>
              <a:t>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b="1" dirty="0">
                <a:solidFill>
                  <a:srgbClr val="FF0000"/>
                </a:solidFill>
              </a:rPr>
              <a:t>TX agregação de Valor (TXAV) </a:t>
            </a:r>
            <a:r>
              <a:rPr lang="pt-BR" sz="2000" b="1" dirty="0"/>
              <a:t>= 100% - </a:t>
            </a:r>
            <a:r>
              <a:rPr lang="pt-BR" sz="1900" dirty="0"/>
              <a:t>[(taxa de mortalidade + taxa de readmissão + taxa de insatisfação do paciente) / 3]</a:t>
            </a: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1343025" indent="-1343025">
              <a:buNone/>
            </a:pPr>
            <a:r>
              <a:rPr lang="pt-BR" sz="2000" b="1" dirty="0">
                <a:solidFill>
                  <a:srgbClr val="0000FF"/>
                </a:solidFill>
              </a:rPr>
              <a:t>TTAVe (%) </a:t>
            </a:r>
            <a:r>
              <a:rPr lang="pt-BR" sz="2000" dirty="0"/>
              <a:t>= </a:t>
            </a:r>
            <a:r>
              <a:rPr lang="pt-BR" sz="2000" b="1" dirty="0"/>
              <a:t>(Tempo total de cirurgia / </a:t>
            </a:r>
            <a:br>
              <a:rPr lang="pt-BR" sz="2000" b="1" dirty="0"/>
            </a:br>
            <a:r>
              <a:rPr lang="pt-BR" sz="2000" b="1" dirty="0"/>
              <a:t>(Tempo total de cirurgia </a:t>
            </a:r>
            <a:r>
              <a:rPr lang="pt-BR" sz="2000" b="1" dirty="0" err="1"/>
              <a:t>x</a:t>
            </a:r>
            <a:r>
              <a:rPr lang="pt-BR" sz="2000" b="1" dirty="0"/>
              <a:t> [1 + </a:t>
            </a:r>
            <a:r>
              <a:rPr lang="pt-BR" sz="2000" b="1" dirty="0">
                <a:solidFill>
                  <a:srgbClr val="FF0000"/>
                </a:solidFill>
              </a:rPr>
              <a:t>TXAV</a:t>
            </a:r>
            <a:r>
              <a:rPr lang="pt-BR" sz="2000" b="1" dirty="0"/>
              <a:t>]) ) </a:t>
            </a:r>
            <a:r>
              <a:rPr lang="pt-BR" sz="2000" b="1" dirty="0" err="1"/>
              <a:t>x</a:t>
            </a:r>
            <a:r>
              <a:rPr lang="pt-BR" sz="2000" b="1" dirty="0"/>
              <a:t> 100</a:t>
            </a:r>
          </a:p>
          <a:p>
            <a:pPr marL="0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095174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9669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cap="all" dirty="0">
                <a:solidFill>
                  <a:srgbClr val="008000"/>
                </a:solidFill>
              </a:rPr>
              <a:t>EXEMPLO DE CÁLCULO DO (3) Indicador de Eficiência DE </a:t>
            </a:r>
            <a:r>
              <a:rPr lang="pt-BR" sz="2000" b="1" dirty="0">
                <a:solidFill>
                  <a:srgbClr val="0000FF"/>
                </a:solidFill>
              </a:rPr>
              <a:t>Tempo total de agregação de Valor (TTAVe)</a:t>
            </a:r>
            <a:r>
              <a:rPr lang="pt-BR" sz="2000" dirty="0"/>
              <a:t>: </a:t>
            </a:r>
          </a:p>
          <a:p>
            <a:pPr marL="0" indent="0">
              <a:buNone/>
            </a:pPr>
            <a:r>
              <a:rPr lang="pt-BR" sz="2000" b="1" dirty="0"/>
              <a:t>Tempo total de cirurgia = 10h</a:t>
            </a:r>
          </a:p>
          <a:p>
            <a:pPr marL="0" indent="0">
              <a:buNone/>
            </a:pPr>
            <a:r>
              <a:rPr lang="pt-BR" sz="2000" b="1" dirty="0"/>
              <a:t>Taxa de mortalidade = 5%</a:t>
            </a:r>
          </a:p>
          <a:p>
            <a:pPr marL="0" indent="0">
              <a:buNone/>
            </a:pPr>
            <a:r>
              <a:rPr lang="pt-BR" sz="2000" b="1" dirty="0"/>
              <a:t>Taxa de readmissão = 2%</a:t>
            </a:r>
          </a:p>
          <a:p>
            <a:pPr marL="0" indent="0">
              <a:buNone/>
            </a:pPr>
            <a:r>
              <a:rPr lang="pt-BR" sz="2000" b="1" dirty="0"/>
              <a:t>Taxa de insatisfação do paciente = 80%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b="1" dirty="0">
                <a:solidFill>
                  <a:srgbClr val="FF0000"/>
                </a:solidFill>
              </a:rPr>
              <a:t>TX agregação de Valor (TXAV) </a:t>
            </a:r>
            <a:r>
              <a:rPr lang="pt-BR" sz="2000" b="1" dirty="0"/>
              <a:t>= 100% - </a:t>
            </a:r>
            <a:r>
              <a:rPr lang="pt-BR" sz="1900" dirty="0"/>
              <a:t>[(5% + 2% + 80%) / 3] </a:t>
            </a:r>
            <a:r>
              <a:rPr lang="pt-BR" sz="2400" dirty="0"/>
              <a:t>= 71%</a:t>
            </a:r>
            <a:endParaRPr lang="pt-BR" sz="2000" dirty="0"/>
          </a:p>
          <a:p>
            <a:pPr marL="1343025" indent="-1343025">
              <a:buNone/>
            </a:pPr>
            <a:r>
              <a:rPr lang="pt-BR" sz="2000" b="1" dirty="0">
                <a:solidFill>
                  <a:srgbClr val="0000FF"/>
                </a:solidFill>
              </a:rPr>
              <a:t>TTAVe (%)</a:t>
            </a:r>
            <a:r>
              <a:rPr lang="pt-BR" sz="2000" dirty="0"/>
              <a:t>=  </a:t>
            </a:r>
            <a:r>
              <a:rPr lang="pt-BR" sz="2000" b="1" dirty="0"/>
              <a:t>(Tempo total de cirurgia </a:t>
            </a:r>
            <a:r>
              <a:rPr lang="pt-BR" sz="2000" b="1" dirty="0" err="1"/>
              <a:t>x</a:t>
            </a:r>
            <a:r>
              <a:rPr lang="pt-BR" sz="2000" b="1" dirty="0"/>
              <a:t> </a:t>
            </a:r>
            <a:r>
              <a:rPr lang="pt-BR" sz="2000" b="1" dirty="0">
                <a:solidFill>
                  <a:srgbClr val="FF0000"/>
                </a:solidFill>
              </a:rPr>
              <a:t>TXAV</a:t>
            </a:r>
            <a:r>
              <a:rPr lang="pt-BR" sz="2000" b="1" dirty="0"/>
              <a:t> /</a:t>
            </a:r>
            <a:br>
              <a:rPr lang="pt-BR" sz="2000" b="1" dirty="0"/>
            </a:br>
            <a:r>
              <a:rPr lang="pt-BR" sz="2000" b="1" dirty="0"/>
              <a:t>(Tempo total de cirurgia) ) </a:t>
            </a:r>
            <a:r>
              <a:rPr lang="pt-BR" sz="2000" b="1" dirty="0" err="1"/>
              <a:t>x</a:t>
            </a:r>
            <a:r>
              <a:rPr lang="pt-BR" sz="2000" b="1" dirty="0"/>
              <a:t> 100</a:t>
            </a:r>
          </a:p>
          <a:p>
            <a:pPr marL="1343025" indent="-1343025">
              <a:buNone/>
            </a:pPr>
            <a:r>
              <a:rPr lang="pt-BR" sz="2000" b="1" dirty="0">
                <a:solidFill>
                  <a:srgbClr val="0000FF"/>
                </a:solidFill>
              </a:rPr>
              <a:t>TTAVe (%)</a:t>
            </a:r>
            <a:r>
              <a:rPr lang="pt-BR" sz="2000" dirty="0"/>
              <a:t>= </a:t>
            </a:r>
            <a:r>
              <a:rPr lang="pt-BR" sz="2000" b="1" dirty="0"/>
              <a:t>(10h / (10h </a:t>
            </a:r>
            <a:r>
              <a:rPr lang="pt-BR" sz="2000" b="1" dirty="0" err="1"/>
              <a:t>x</a:t>
            </a:r>
            <a:r>
              <a:rPr lang="pt-BR" sz="2000" b="1" dirty="0"/>
              <a:t> [1 + </a:t>
            </a:r>
            <a:r>
              <a:rPr lang="pt-BR" sz="2000" b="1" dirty="0">
                <a:solidFill>
                  <a:srgbClr val="FF0000"/>
                </a:solidFill>
              </a:rPr>
              <a:t>0,29</a:t>
            </a:r>
            <a:r>
              <a:rPr lang="pt-BR" sz="2000" b="1" dirty="0"/>
              <a:t>]) ) </a:t>
            </a:r>
            <a:r>
              <a:rPr lang="pt-BR" sz="2000" b="1" dirty="0" err="1"/>
              <a:t>x</a:t>
            </a:r>
            <a:r>
              <a:rPr lang="pt-BR" sz="2000" b="1" dirty="0"/>
              <a:t> 100</a:t>
            </a:r>
          </a:p>
          <a:p>
            <a:pPr marL="1343025" indent="-1343025">
              <a:buNone/>
            </a:pPr>
            <a:r>
              <a:rPr lang="pt-BR" sz="2000" b="1" dirty="0">
                <a:solidFill>
                  <a:srgbClr val="0000FF"/>
                </a:solidFill>
              </a:rPr>
              <a:t>TTAVe (%)</a:t>
            </a:r>
            <a:r>
              <a:rPr lang="pt-BR" sz="2000" dirty="0"/>
              <a:t>= </a:t>
            </a:r>
            <a:r>
              <a:rPr lang="pt-BR" sz="2000" b="1" dirty="0"/>
              <a:t>(10h / 12h54min ) </a:t>
            </a:r>
            <a:r>
              <a:rPr lang="pt-BR" sz="2000" b="1" dirty="0" err="1"/>
              <a:t>x</a:t>
            </a:r>
            <a:r>
              <a:rPr lang="pt-BR" sz="2000" b="1" dirty="0"/>
              <a:t> 100 = 77% </a:t>
            </a:r>
            <a:r>
              <a:rPr lang="pt-BR" sz="2000" dirty="0">
                <a:solidFill>
                  <a:srgbClr val="008000"/>
                </a:solidFill>
              </a:rPr>
              <a:t>{agrega-se valor em 77% do tempo}</a:t>
            </a:r>
          </a:p>
          <a:p>
            <a:pPr marL="1343025" indent="-1343025">
              <a:buNone/>
            </a:pPr>
            <a:endParaRPr lang="pt-BR" sz="2000" b="1" dirty="0"/>
          </a:p>
          <a:p>
            <a:pPr marL="0" indent="0">
              <a:buNone/>
            </a:pPr>
            <a:endParaRPr lang="pt-BR" sz="2000" dirty="0"/>
          </a:p>
        </p:txBody>
      </p:sp>
      <p:sp>
        <p:nvSpPr>
          <p:cNvPr id="4" name="Rectangle 3"/>
          <p:cNvSpPr/>
          <p:nvPr/>
        </p:nvSpPr>
        <p:spPr>
          <a:xfrm>
            <a:off x="6051456" y="2509256"/>
            <a:ext cx="2635344" cy="923330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</a:t>
            </a:r>
            <a:r>
              <a:rPr lang="pt-BR" b="1" dirty="0" err="1">
                <a:solidFill>
                  <a:srgbClr val="FFFF00"/>
                </a:solidFill>
              </a:rPr>
              <a:t>s</a:t>
            </a:r>
            <a:r>
              <a:rPr lang="pt-BR" b="1" dirty="0">
                <a:solidFill>
                  <a:srgbClr val="FFFF00"/>
                </a:solidFill>
              </a:rPr>
              <a:t> taxas são penalizações</a:t>
            </a:r>
            <a:br>
              <a:rPr lang="pt-BR" b="1" dirty="0">
                <a:solidFill>
                  <a:srgbClr val="FFFF00"/>
                </a:solidFill>
              </a:rPr>
            </a:br>
            <a:r>
              <a:rPr lang="pt-BR" b="1" dirty="0">
                <a:solidFill>
                  <a:srgbClr val="FFFF00"/>
                </a:solidFill>
              </a:rPr>
              <a:t>no tempo</a:t>
            </a:r>
            <a:br>
              <a:rPr lang="pt-BR" b="1" dirty="0">
                <a:solidFill>
                  <a:srgbClr val="FFFF00"/>
                </a:solidFill>
              </a:rPr>
            </a:br>
            <a:r>
              <a:rPr lang="pt-BR" b="1" dirty="0">
                <a:solidFill>
                  <a:srgbClr val="FFFF00"/>
                </a:solidFill>
              </a:rPr>
              <a:t>total de cirurgia!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911661" y="2487910"/>
            <a:ext cx="915100" cy="11354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651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6928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b="1" cap="all" noProof="1">
                <a:solidFill>
                  <a:srgbClr val="008000"/>
                </a:solidFill>
              </a:rPr>
              <a:t>Indicador de Qualidade DO</a:t>
            </a: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Tempo Total de Agregação de Valor (TTAVq): </a:t>
            </a:r>
            <a:r>
              <a:rPr lang="pt-BR" sz="2000" noProof="1"/>
              <a:t>é um indicador que mede a qualidade do processo de atendimento ao paciente em relação ao tempo total de agregação de valor. Leva-se em conta dados de resultados clínicos, </a:t>
            </a:r>
            <a:r>
              <a:rPr lang="pt-BR" sz="2000" dirty="0"/>
              <a:t>como a </a:t>
            </a:r>
            <a:r>
              <a:rPr lang="pt-BR" sz="2000" b="1" dirty="0">
                <a:solidFill>
                  <a:srgbClr val="FF0000"/>
                </a:solidFill>
              </a:rPr>
              <a:t>Índice de mortalidade e a Índice de readmissão, bem como Índice de satisfação do paciente.</a:t>
            </a:r>
          </a:p>
          <a:p>
            <a:pPr marL="0" indent="0">
              <a:buNone/>
            </a:pPr>
            <a:endParaRPr lang="pt-BR" sz="2000" b="1" noProof="1">
              <a:solidFill>
                <a:srgbClr val="FF0000"/>
              </a:solidFill>
            </a:endParaRPr>
          </a:p>
          <a:p>
            <a:pPr marL="2960688" indent="-2960688">
              <a:buNone/>
            </a:pPr>
            <a:r>
              <a:rPr lang="pt-BR" sz="1800" b="1" dirty="0">
                <a:solidFill>
                  <a:srgbClr val="FF0000"/>
                </a:solidFill>
              </a:rPr>
              <a:t>Índice agregação de Valor (IAV) </a:t>
            </a:r>
            <a:r>
              <a:rPr lang="pt-BR" sz="1900" b="1" dirty="0"/>
              <a:t>= </a:t>
            </a:r>
            <a:r>
              <a:rPr lang="pt-BR" sz="1900" dirty="0"/>
              <a:t>[(</a:t>
            </a:r>
            <a:r>
              <a:rPr lang="pt-BR" sz="2000" b="1" dirty="0"/>
              <a:t>Índice de </a:t>
            </a:r>
            <a:r>
              <a:rPr lang="pt-BR" sz="1900" dirty="0"/>
              <a:t>mortalidade + </a:t>
            </a:r>
            <a:r>
              <a:rPr lang="pt-BR" sz="2000" b="1" dirty="0"/>
              <a:t>Índice de </a:t>
            </a:r>
            <a:r>
              <a:rPr lang="pt-BR" sz="1900" dirty="0"/>
              <a:t>readmissão + </a:t>
            </a:r>
            <a:br>
              <a:rPr lang="pt-BR" sz="1900" dirty="0"/>
            </a:br>
            <a:r>
              <a:rPr lang="pt-BR" sz="1900" dirty="0"/>
              <a:t> </a:t>
            </a:r>
            <a:r>
              <a:rPr lang="pt-BR" sz="2000" b="1" dirty="0"/>
              <a:t>Índice de </a:t>
            </a:r>
            <a:r>
              <a:rPr lang="pt-BR" sz="1900" dirty="0"/>
              <a:t>satisfação do paciente) / 3]</a:t>
            </a:r>
          </a:p>
          <a:p>
            <a:pPr marL="0" indent="0">
              <a:buNone/>
            </a:pPr>
            <a:endParaRPr lang="pt-BR" sz="2000" noProof="1"/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TTAVq (%) </a:t>
            </a:r>
            <a:r>
              <a:rPr lang="pt-BR" sz="2000" b="1" noProof="1"/>
              <a:t>= [1 </a:t>
            </a:r>
            <a:r>
              <a:rPr lang="mr-IN" sz="2000" b="1" noProof="1"/>
              <a:t>–</a:t>
            </a:r>
            <a:r>
              <a:rPr lang="pt-BR" sz="2000" b="1" noProof="1"/>
              <a:t> </a:t>
            </a:r>
            <a:r>
              <a:rPr lang="pt-BR" sz="2000" b="1" noProof="1">
                <a:solidFill>
                  <a:srgbClr val="FF0000"/>
                </a:solidFill>
              </a:rPr>
              <a:t>I</a:t>
            </a:r>
            <a:r>
              <a:rPr lang="pt-BR" sz="2000" b="1" dirty="0">
                <a:solidFill>
                  <a:srgbClr val="FF0000"/>
                </a:solidFill>
              </a:rPr>
              <a:t>AV]</a:t>
            </a:r>
            <a:endParaRPr lang="pt-BR" sz="2000" b="1" noProof="1"/>
          </a:p>
          <a:p>
            <a:pPr marL="0" indent="0">
              <a:buNone/>
            </a:pPr>
            <a:endParaRPr lang="pt-BR" sz="2000" b="1" noProof="1"/>
          </a:p>
          <a:p>
            <a:pPr marL="0" indent="0">
              <a:buNone/>
            </a:pPr>
            <a:endParaRPr lang="pt-BR" sz="2000" noProof="1"/>
          </a:p>
          <a:p>
            <a:pPr marL="0" indent="0">
              <a:buNone/>
            </a:pPr>
            <a:endParaRPr lang="pt-BR" sz="2000" noProof="1"/>
          </a:p>
        </p:txBody>
      </p:sp>
    </p:spTree>
    <p:extLst>
      <p:ext uri="{BB962C8B-B14F-4D97-AF65-F5344CB8AC3E}">
        <p14:creationId xmlns:p14="http://schemas.microsoft.com/office/powerpoint/2010/main" val="4177169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69285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200" b="1" cap="all" noProof="1">
                <a:solidFill>
                  <a:srgbClr val="008000"/>
                </a:solidFill>
              </a:rPr>
              <a:t>EXEMPLO DE Indicador de Qualidade DE </a:t>
            </a:r>
            <a:r>
              <a:rPr lang="pt-BR" sz="2000" b="1" noProof="1">
                <a:solidFill>
                  <a:srgbClr val="0000FF"/>
                </a:solidFill>
              </a:rPr>
              <a:t>Tempo Total de Agregação de Valor (TTAVq)</a:t>
            </a:r>
          </a:p>
          <a:p>
            <a:pPr marL="0" indent="0">
              <a:buNone/>
            </a:pPr>
            <a:r>
              <a:rPr lang="pt-BR" sz="2000" b="1" dirty="0"/>
              <a:t>Índice de mortalidade </a:t>
            </a:r>
          </a:p>
          <a:p>
            <a:pPr marL="0" indent="0">
              <a:buNone/>
            </a:pPr>
            <a:r>
              <a:rPr lang="pt-BR" sz="2000" b="1" dirty="0"/>
              <a:t>(</a:t>
            </a:r>
            <a:r>
              <a:rPr lang="pt-BR" sz="2000" b="1" dirty="0" err="1"/>
              <a:t>n</a:t>
            </a:r>
            <a:r>
              <a:rPr lang="pt-BR" sz="2000" b="1" dirty="0"/>
              <a:t> mortes </a:t>
            </a:r>
            <a:r>
              <a:rPr lang="pt-BR" sz="2000" b="1" dirty="0" err="1"/>
              <a:t>periodo</a:t>
            </a:r>
            <a:r>
              <a:rPr lang="pt-BR" sz="2000" b="1" dirty="0"/>
              <a:t>/</a:t>
            </a:r>
            <a:r>
              <a:rPr lang="pt-BR" sz="2000" b="1" dirty="0" err="1"/>
              <a:t>n</a:t>
            </a:r>
            <a:r>
              <a:rPr lang="pt-BR" sz="2000" b="1" dirty="0"/>
              <a:t> cirurgias </a:t>
            </a:r>
            <a:r>
              <a:rPr lang="pt-BR" sz="2000" b="1" dirty="0" err="1"/>
              <a:t>periodo</a:t>
            </a:r>
            <a:r>
              <a:rPr lang="pt-BR" sz="2000" b="1" dirty="0"/>
              <a:t>= 5%</a:t>
            </a:r>
          </a:p>
          <a:p>
            <a:pPr marL="0" indent="0">
              <a:buNone/>
            </a:pPr>
            <a:r>
              <a:rPr lang="pt-BR" sz="2000" b="1" dirty="0"/>
              <a:t>Índice de readmissão = 2%</a:t>
            </a:r>
          </a:p>
          <a:p>
            <a:pPr marL="0" indent="0">
              <a:buNone/>
            </a:pPr>
            <a:r>
              <a:rPr lang="pt-BR" sz="2000" b="1" dirty="0"/>
              <a:t>Índice de satisfação do paciente = 80%</a:t>
            </a:r>
            <a:endParaRPr lang="pt-BR" sz="2000" dirty="0"/>
          </a:p>
          <a:p>
            <a:pPr marL="0" indent="0">
              <a:buNone/>
            </a:pPr>
            <a:endParaRPr lang="pt-BR" sz="2000" noProof="1"/>
          </a:p>
          <a:p>
            <a:pPr marL="2960688" indent="-2960688">
              <a:buNone/>
            </a:pPr>
            <a:r>
              <a:rPr lang="pt-BR" sz="2100" b="1" dirty="0">
                <a:solidFill>
                  <a:srgbClr val="FF0000"/>
                </a:solidFill>
              </a:rPr>
              <a:t>Índice de agregação </a:t>
            </a:r>
            <a:r>
              <a:rPr lang="pt-BR" sz="1800" b="1" dirty="0">
                <a:solidFill>
                  <a:srgbClr val="FF0000"/>
                </a:solidFill>
              </a:rPr>
              <a:t>de Valor (TXAV) </a:t>
            </a:r>
            <a:r>
              <a:rPr lang="pt-BR" sz="1900" b="1" dirty="0"/>
              <a:t>= </a:t>
            </a:r>
            <a:r>
              <a:rPr lang="pt-BR" sz="1900" dirty="0"/>
              <a:t>[(</a:t>
            </a:r>
            <a:r>
              <a:rPr lang="pt-BR" sz="1800" b="1" dirty="0"/>
              <a:t>Índice de </a:t>
            </a:r>
            <a:r>
              <a:rPr lang="pt-BR" sz="1900" dirty="0"/>
              <a:t>mortalidade + </a:t>
            </a:r>
            <a:r>
              <a:rPr lang="pt-BR" sz="1800" b="1" dirty="0"/>
              <a:t>Índice de </a:t>
            </a:r>
            <a:r>
              <a:rPr lang="pt-BR" sz="1900" dirty="0"/>
              <a:t>readmissão + </a:t>
            </a:r>
            <a:br>
              <a:rPr lang="pt-BR" sz="1900" dirty="0"/>
            </a:br>
            <a:r>
              <a:rPr lang="pt-BR" sz="1900" dirty="0"/>
              <a:t> </a:t>
            </a:r>
            <a:r>
              <a:rPr lang="pt-BR" sz="1800" b="1" dirty="0"/>
              <a:t>Índice de</a:t>
            </a:r>
            <a:r>
              <a:rPr lang="pt-BR" sz="1900" dirty="0"/>
              <a:t> satisfação do paciente) / 3]</a:t>
            </a:r>
          </a:p>
          <a:p>
            <a:pPr marL="2960688" indent="-2960688">
              <a:buNone/>
            </a:pPr>
            <a:r>
              <a:rPr lang="pt-BR" sz="2100" b="1" dirty="0">
                <a:solidFill>
                  <a:srgbClr val="FF0000"/>
                </a:solidFill>
              </a:rPr>
              <a:t>Índice de agregação </a:t>
            </a:r>
            <a:r>
              <a:rPr lang="pt-BR" sz="2000" b="1" dirty="0">
                <a:solidFill>
                  <a:srgbClr val="FF0000"/>
                </a:solidFill>
              </a:rPr>
              <a:t>de Valor (TXAV) </a:t>
            </a:r>
            <a:r>
              <a:rPr lang="pt-BR" sz="2000" b="1" dirty="0"/>
              <a:t>= </a:t>
            </a:r>
            <a:r>
              <a:rPr lang="pt-BR" sz="1900" dirty="0"/>
              <a:t>[(5% + 2% + 80%) / 3] </a:t>
            </a:r>
            <a:r>
              <a:rPr lang="pt-BR" sz="2400" dirty="0"/>
              <a:t>= 0,29</a:t>
            </a:r>
            <a:endParaRPr lang="pt-BR" sz="2000" noProof="1"/>
          </a:p>
          <a:p>
            <a:pPr marL="0" indent="0">
              <a:buNone/>
            </a:pPr>
            <a:endParaRPr lang="pt-BR" sz="2000" b="1" noProof="1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TTAVq (%) </a:t>
            </a:r>
            <a:r>
              <a:rPr lang="pt-BR" sz="2000" b="1" noProof="1"/>
              <a:t>= (1 </a:t>
            </a:r>
            <a:r>
              <a:rPr lang="mr-IN" sz="2000" b="1" noProof="1"/>
              <a:t>–</a:t>
            </a:r>
            <a:r>
              <a:rPr lang="pt-BR" sz="2000" b="1" noProof="1"/>
              <a:t> </a:t>
            </a:r>
            <a:r>
              <a:rPr lang="pt-BR" sz="2000" b="1" noProof="1">
                <a:solidFill>
                  <a:srgbClr val="FF0000"/>
                </a:solidFill>
              </a:rPr>
              <a:t>I</a:t>
            </a:r>
            <a:r>
              <a:rPr lang="pt-BR" sz="2000" b="1" dirty="0">
                <a:solidFill>
                  <a:srgbClr val="FF0000"/>
                </a:solidFill>
              </a:rPr>
              <a:t>AV)</a:t>
            </a:r>
            <a:r>
              <a:rPr lang="pt-BR" sz="2000" b="1" noProof="1"/>
              <a:t> x 100</a:t>
            </a: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TTAVq (%) </a:t>
            </a:r>
            <a:r>
              <a:rPr lang="pt-BR" sz="2000" b="1" noProof="1"/>
              <a:t>= (1 - 0,</a:t>
            </a:r>
            <a:r>
              <a:rPr lang="pt-BR" sz="2000" b="1" dirty="0">
                <a:solidFill>
                  <a:srgbClr val="FF0000"/>
                </a:solidFill>
              </a:rPr>
              <a:t>29)</a:t>
            </a:r>
            <a:r>
              <a:rPr lang="pt-BR" sz="2000" b="1" noProof="1"/>
              <a:t> x 100 = 71%</a:t>
            </a:r>
            <a:endParaRPr lang="pt-BR" sz="2000" noProof="1"/>
          </a:p>
          <a:p>
            <a:pPr marL="0" indent="0">
              <a:buNone/>
            </a:pPr>
            <a:endParaRPr lang="pt-BR" sz="2000" noProof="1"/>
          </a:p>
        </p:txBody>
      </p:sp>
      <p:sp>
        <p:nvSpPr>
          <p:cNvPr id="4" name="Rectangle 3"/>
          <p:cNvSpPr/>
          <p:nvPr/>
        </p:nvSpPr>
        <p:spPr>
          <a:xfrm>
            <a:off x="6191140" y="2293552"/>
            <a:ext cx="2635344" cy="923330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</a:t>
            </a:r>
            <a:r>
              <a:rPr lang="pt-BR" b="1" dirty="0" err="1">
                <a:solidFill>
                  <a:srgbClr val="FFFF00"/>
                </a:solidFill>
              </a:rPr>
              <a:t>s</a:t>
            </a:r>
            <a:r>
              <a:rPr lang="pt-BR" b="1" dirty="0">
                <a:solidFill>
                  <a:srgbClr val="FFFF00"/>
                </a:solidFill>
              </a:rPr>
              <a:t> taxas são penalizações</a:t>
            </a:r>
            <a:br>
              <a:rPr lang="pt-BR" b="1" dirty="0">
                <a:solidFill>
                  <a:srgbClr val="FFFF00"/>
                </a:solidFill>
              </a:rPr>
            </a:br>
            <a:r>
              <a:rPr lang="pt-BR" b="1" dirty="0">
                <a:solidFill>
                  <a:srgbClr val="FFFF00"/>
                </a:solidFill>
              </a:rPr>
              <a:t>no tempo</a:t>
            </a:r>
            <a:br>
              <a:rPr lang="pt-BR" b="1" dirty="0">
                <a:solidFill>
                  <a:srgbClr val="FFFF00"/>
                </a:solidFill>
              </a:rPr>
            </a:br>
            <a:r>
              <a:rPr lang="pt-BR" b="1" dirty="0">
                <a:solidFill>
                  <a:srgbClr val="FFFF00"/>
                </a:solidFill>
              </a:rPr>
              <a:t>total de cirurgia!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182655" y="2284306"/>
            <a:ext cx="915100" cy="11354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18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noProof="1"/>
              <a:t>Ao incluir o Indicador de Disponibilidade no cálculo do indicador ORE, é possível obter uma medida mais abrangente da efetividade da sala de operações, considerando tanto a disponibilidade (</a:t>
            </a:r>
            <a:r>
              <a:rPr lang="pt-BR" sz="2000" b="1" noProof="1">
                <a:solidFill>
                  <a:srgbClr val="0000FF"/>
                </a:solidFill>
              </a:rPr>
              <a:t>DP</a:t>
            </a:r>
            <a:r>
              <a:rPr lang="pt-BR" sz="2000" noProof="1"/>
              <a:t>) quanto a eficiência (</a:t>
            </a:r>
            <a:r>
              <a:rPr lang="pt-BR" sz="2000" b="1" noProof="1">
                <a:solidFill>
                  <a:srgbClr val="0000FF"/>
                </a:solidFill>
              </a:rPr>
              <a:t>TTPe</a:t>
            </a:r>
            <a:r>
              <a:rPr lang="pt-BR" sz="2000" b="1" noProof="1"/>
              <a:t> + </a:t>
            </a:r>
            <a:r>
              <a:rPr lang="pt-BR" sz="2000" b="1" noProof="1">
                <a:solidFill>
                  <a:srgbClr val="0000FF"/>
                </a:solidFill>
              </a:rPr>
              <a:t>TTUe</a:t>
            </a:r>
            <a:r>
              <a:rPr lang="pt-BR" sz="2000" noProof="1"/>
              <a:t>) e qualidade (</a:t>
            </a:r>
            <a:r>
              <a:rPr lang="pt-BR" sz="2000" b="1" noProof="1">
                <a:solidFill>
                  <a:srgbClr val="0000FF"/>
                </a:solidFill>
              </a:rPr>
              <a:t>TTAVq</a:t>
            </a:r>
            <a:r>
              <a:rPr lang="pt-BR" sz="2000" noProof="1"/>
              <a:t>) do processo de atendimento ao paciente.</a:t>
            </a:r>
          </a:p>
          <a:p>
            <a:pPr marL="0" indent="0">
              <a:buNone/>
            </a:pPr>
            <a:endParaRPr lang="pt-BR" sz="2000" noProof="1"/>
          </a:p>
          <a:p>
            <a:pPr marL="0" indent="0">
              <a:buNone/>
            </a:pPr>
            <a:r>
              <a:rPr lang="pt-BR" sz="2000" b="1" noProof="1"/>
              <a:t>ORE = [</a:t>
            </a:r>
            <a:r>
              <a:rPr lang="pt-BR" sz="2000" b="1" noProof="1">
                <a:solidFill>
                  <a:srgbClr val="0000FF"/>
                </a:solidFill>
              </a:rPr>
              <a:t>DP</a:t>
            </a:r>
            <a:r>
              <a:rPr lang="pt-BR" sz="2000" b="1" noProof="1"/>
              <a:t> x 0.2 + [(</a:t>
            </a:r>
            <a:r>
              <a:rPr lang="pt-BR" sz="2000" b="1" noProof="1">
                <a:solidFill>
                  <a:srgbClr val="0000FF"/>
                </a:solidFill>
              </a:rPr>
              <a:t>TTPe</a:t>
            </a:r>
            <a:r>
              <a:rPr lang="pt-BR" sz="2000" b="1" noProof="1"/>
              <a:t> + </a:t>
            </a:r>
            <a:r>
              <a:rPr lang="pt-BR" sz="2000" b="1" noProof="1">
                <a:solidFill>
                  <a:srgbClr val="0000FF"/>
                </a:solidFill>
              </a:rPr>
              <a:t>TTUe</a:t>
            </a:r>
            <a:r>
              <a:rPr lang="pt-BR" sz="2000" b="1" noProof="1"/>
              <a:t>) / 2] x 0.5 + </a:t>
            </a:r>
            <a:r>
              <a:rPr lang="pt-BR" sz="2000" b="1" noProof="1">
                <a:solidFill>
                  <a:srgbClr val="0000FF"/>
                </a:solidFill>
              </a:rPr>
              <a:t>TTAVq</a:t>
            </a:r>
            <a:r>
              <a:rPr lang="pt-BR" sz="2000" b="1" noProof="1"/>
              <a:t> x 0.3] x 100</a:t>
            </a:r>
          </a:p>
          <a:p>
            <a:pPr marL="0" indent="0">
              <a:buNone/>
            </a:pPr>
            <a:endParaRPr lang="pt-BR" sz="2000" noProof="1"/>
          </a:p>
          <a:p>
            <a:pPr marL="0" indent="0" algn="just">
              <a:buNone/>
            </a:pPr>
            <a:r>
              <a:rPr lang="pt-BR" sz="2000" noProof="1"/>
              <a:t>Para calcular o Indicador ORE, os três tipos de indicadores são ponderados de acordo com sua importância relativa. Na fórmula do indicador ORE, o indicador de disponibilidade (</a:t>
            </a:r>
            <a:r>
              <a:rPr lang="pt-BR" sz="2000" b="1" noProof="1">
                <a:solidFill>
                  <a:srgbClr val="0000FF"/>
                </a:solidFill>
              </a:rPr>
              <a:t>DP</a:t>
            </a:r>
            <a:r>
              <a:rPr lang="pt-BR" sz="2000" noProof="1"/>
              <a:t>) é ponderado em 20%, o indicador de eficiência (</a:t>
            </a:r>
            <a:r>
              <a:rPr lang="pt-BR" sz="2000" b="1" noProof="1">
                <a:solidFill>
                  <a:srgbClr val="0000FF"/>
                </a:solidFill>
              </a:rPr>
              <a:t>TTPe</a:t>
            </a:r>
            <a:r>
              <a:rPr lang="pt-BR" sz="2000" b="1" noProof="1"/>
              <a:t> + </a:t>
            </a:r>
            <a:r>
              <a:rPr lang="pt-BR" sz="2000" b="1" noProof="1">
                <a:solidFill>
                  <a:srgbClr val="0000FF"/>
                </a:solidFill>
              </a:rPr>
              <a:t>TTUe</a:t>
            </a:r>
            <a:r>
              <a:rPr lang="pt-BR" sz="2000" noProof="1"/>
              <a:t>) é ponderado em 50% e o indicador de qualidade (</a:t>
            </a:r>
            <a:r>
              <a:rPr lang="pt-BR" sz="2000" b="1" noProof="1">
                <a:solidFill>
                  <a:srgbClr val="0000FF"/>
                </a:solidFill>
              </a:rPr>
              <a:t>TTAVq</a:t>
            </a:r>
            <a:r>
              <a:rPr lang="pt-BR" sz="2000" noProof="1"/>
              <a:t>) é ponderado em 30%.</a:t>
            </a:r>
          </a:p>
        </p:txBody>
      </p:sp>
    </p:spTree>
    <p:extLst>
      <p:ext uri="{BB962C8B-B14F-4D97-AF65-F5344CB8AC3E}">
        <p14:creationId xmlns:p14="http://schemas.microsoft.com/office/powerpoint/2010/main" val="3252266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200" b="1" noProof="1"/>
              <a:t>Indicador ORE</a:t>
            </a:r>
            <a:r>
              <a:rPr lang="pt-BR" sz="3200" noProof="1"/>
              <a:t>: (</a:t>
            </a:r>
            <a:r>
              <a:rPr lang="pt-BR" sz="3200" b="1" noProof="1"/>
              <a:t>O</a:t>
            </a:r>
            <a:r>
              <a:rPr lang="pt-BR" sz="3200" noProof="1"/>
              <a:t>perating </a:t>
            </a:r>
            <a:r>
              <a:rPr lang="pt-BR" sz="3200" b="1" noProof="1"/>
              <a:t>R</a:t>
            </a:r>
            <a:r>
              <a:rPr lang="pt-BR" sz="3200" noProof="1"/>
              <a:t>oom </a:t>
            </a:r>
            <a:r>
              <a:rPr lang="pt-BR" sz="3200" b="1" noProof="1"/>
              <a:t>E</a:t>
            </a:r>
            <a:r>
              <a:rPr lang="pt-BR" sz="3200" noProof="1"/>
              <a:t>ffectiveness)</a:t>
            </a:r>
            <a:endParaRPr lang="pt-BR" sz="2800" b="1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4776"/>
            <a:ext cx="8229600" cy="48013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200" b="1" cap="all" noProof="1">
                <a:solidFill>
                  <a:srgbClr val="008000"/>
                </a:solidFill>
              </a:rPr>
              <a:t>EXEMPLO DE Indicador de Qualidade DE </a:t>
            </a:r>
            <a:r>
              <a:rPr lang="pt-BR" sz="2800" b="1" noProof="1">
                <a:solidFill>
                  <a:srgbClr val="0000FF"/>
                </a:solidFill>
              </a:rPr>
              <a:t>ORE</a:t>
            </a:r>
          </a:p>
          <a:p>
            <a:pPr marL="0" lvl="1" indent="0">
              <a:buNone/>
            </a:pPr>
            <a:r>
              <a:rPr lang="pt-BR" sz="1600" b="1" u="sng" noProof="1"/>
              <a:t>Indicador de Disponibilidade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FF"/>
                </a:solidFill>
              </a:rPr>
              <a:t>	DP (%) </a:t>
            </a:r>
            <a:r>
              <a:rPr lang="pt-BR" sz="2000" b="1" dirty="0"/>
              <a:t>= 89%</a:t>
            </a:r>
          </a:p>
          <a:p>
            <a:pPr marL="0" lvl="1" indent="0">
              <a:buNone/>
            </a:pPr>
            <a:r>
              <a:rPr lang="pt-BR" sz="1600" b="1" u="sng" noProof="1"/>
              <a:t>Indicadores de Eficiência:</a:t>
            </a: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	TTPe (%)</a:t>
            </a:r>
            <a:r>
              <a:rPr lang="pt-BR" sz="2000" b="1" noProof="1"/>
              <a:t> </a:t>
            </a:r>
            <a:r>
              <a:rPr lang="pt-BR" sz="2000" b="1" dirty="0"/>
              <a:t>= 37,50%</a:t>
            </a: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	TTUe (%) </a:t>
            </a:r>
            <a:r>
              <a:rPr lang="pt-BR" sz="2000" b="1" dirty="0"/>
              <a:t>= 67%</a:t>
            </a:r>
          </a:p>
          <a:p>
            <a:pPr marL="0" indent="0">
              <a:buNone/>
            </a:pPr>
            <a:r>
              <a:rPr lang="pt-BR" sz="2000" b="1" u="sng" noProof="1"/>
              <a:t>Indicador de Qualidade</a:t>
            </a:r>
          </a:p>
          <a:p>
            <a:pPr marL="0" indent="0">
              <a:buNone/>
            </a:pPr>
            <a:r>
              <a:rPr lang="pt-BR" sz="2000" b="1" noProof="1">
                <a:solidFill>
                  <a:srgbClr val="0000FF"/>
                </a:solidFill>
              </a:rPr>
              <a:t>	TTAVq (%) </a:t>
            </a:r>
            <a:r>
              <a:rPr lang="pt-BR" sz="2000" b="1" noProof="1">
                <a:solidFill>
                  <a:srgbClr val="000000"/>
                </a:solidFill>
              </a:rPr>
              <a:t>= 71%	       </a:t>
            </a:r>
            <a:r>
              <a:rPr lang="pt-BR" sz="2000" b="1" noProof="1">
                <a:solidFill>
                  <a:srgbClr val="FF0000"/>
                </a:solidFill>
              </a:rPr>
              <a:t>(100% </a:t>
            </a:r>
            <a:r>
              <a:rPr lang="mr-IN" sz="2000" b="1" noProof="1">
                <a:solidFill>
                  <a:srgbClr val="FF0000"/>
                </a:solidFill>
              </a:rPr>
              <a:t>–</a:t>
            </a:r>
            <a:r>
              <a:rPr lang="pt-BR" sz="2000" b="1" noProof="1">
                <a:solidFill>
                  <a:srgbClr val="FF0000"/>
                </a:solidFill>
              </a:rPr>
              <a:t> 29%)	</a:t>
            </a:r>
            <a:endParaRPr lang="pt-B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sz="2000" b="1" noProof="1"/>
          </a:p>
          <a:p>
            <a:pPr marL="0" indent="0">
              <a:buNone/>
            </a:pPr>
            <a:r>
              <a:rPr lang="pt-BR" sz="2000" b="1" noProof="1"/>
              <a:t>ORE = [</a:t>
            </a:r>
            <a:r>
              <a:rPr lang="pt-BR" sz="2000" b="1" noProof="1">
                <a:solidFill>
                  <a:srgbClr val="0000FF"/>
                </a:solidFill>
              </a:rPr>
              <a:t>DP</a:t>
            </a:r>
            <a:r>
              <a:rPr lang="pt-BR" sz="2000" b="1" noProof="1"/>
              <a:t> x 0.2 + [(</a:t>
            </a:r>
            <a:r>
              <a:rPr lang="pt-BR" sz="2000" b="1" noProof="1">
                <a:solidFill>
                  <a:srgbClr val="0000FF"/>
                </a:solidFill>
              </a:rPr>
              <a:t>TTPe</a:t>
            </a:r>
            <a:r>
              <a:rPr lang="pt-BR" sz="2000" b="1" noProof="1"/>
              <a:t> + </a:t>
            </a:r>
            <a:r>
              <a:rPr lang="pt-BR" sz="2000" b="1" noProof="1">
                <a:solidFill>
                  <a:srgbClr val="0000FF"/>
                </a:solidFill>
              </a:rPr>
              <a:t>TTUe</a:t>
            </a:r>
            <a:r>
              <a:rPr lang="pt-BR" sz="2000" b="1" noProof="1"/>
              <a:t>) / 2] x 0.5 + </a:t>
            </a:r>
            <a:r>
              <a:rPr lang="pt-BR" sz="2000" b="1" noProof="1">
                <a:solidFill>
                  <a:srgbClr val="0000FF"/>
                </a:solidFill>
              </a:rPr>
              <a:t>TTAVq</a:t>
            </a:r>
            <a:r>
              <a:rPr lang="pt-BR" sz="2000" b="1" noProof="1"/>
              <a:t> x 0.3] x 100</a:t>
            </a:r>
          </a:p>
          <a:p>
            <a:pPr marL="0" indent="0">
              <a:buNone/>
            </a:pPr>
            <a:r>
              <a:rPr lang="pt-BR" sz="2000" b="1" noProof="1"/>
              <a:t>ORE = [</a:t>
            </a:r>
            <a:r>
              <a:rPr lang="pt-BR" sz="2000" b="1" noProof="1">
                <a:solidFill>
                  <a:srgbClr val="0000FF"/>
                </a:solidFill>
              </a:rPr>
              <a:t>89%</a:t>
            </a:r>
            <a:r>
              <a:rPr lang="pt-BR" sz="2000" b="1" noProof="1"/>
              <a:t> x 0.2 + [(</a:t>
            </a:r>
            <a:r>
              <a:rPr lang="pt-BR" sz="2000" b="1" noProof="1">
                <a:solidFill>
                  <a:srgbClr val="0000FF"/>
                </a:solidFill>
              </a:rPr>
              <a:t>37,5%</a:t>
            </a:r>
            <a:r>
              <a:rPr lang="pt-BR" sz="2000" b="1" noProof="1"/>
              <a:t> + </a:t>
            </a:r>
            <a:r>
              <a:rPr lang="pt-BR" sz="2000" b="1" noProof="1">
                <a:solidFill>
                  <a:srgbClr val="0000FF"/>
                </a:solidFill>
              </a:rPr>
              <a:t>67%</a:t>
            </a:r>
            <a:r>
              <a:rPr lang="pt-BR" sz="2000" b="1" noProof="1"/>
              <a:t>) / 2] x 0.5 + </a:t>
            </a:r>
            <a:r>
              <a:rPr lang="pt-BR" sz="2000" b="1" noProof="1">
                <a:solidFill>
                  <a:srgbClr val="0000FF"/>
                </a:solidFill>
              </a:rPr>
              <a:t>71%</a:t>
            </a:r>
            <a:r>
              <a:rPr lang="pt-BR" sz="2000" b="1" noProof="1"/>
              <a:t> x 0.3] x 100</a:t>
            </a:r>
          </a:p>
          <a:p>
            <a:pPr marL="0" indent="0">
              <a:buNone/>
            </a:pPr>
            <a:r>
              <a:rPr lang="pt-BR" sz="2000" b="1" noProof="1"/>
              <a:t>ORE = [</a:t>
            </a:r>
            <a:r>
              <a:rPr lang="pt-BR" sz="2000" b="1" noProof="1">
                <a:solidFill>
                  <a:srgbClr val="0000FF"/>
                </a:solidFill>
              </a:rPr>
              <a:t>17,8% </a:t>
            </a:r>
            <a:r>
              <a:rPr lang="pt-BR" sz="2000" b="1" noProof="1"/>
              <a:t>+ </a:t>
            </a:r>
            <a:r>
              <a:rPr lang="pt-BR" sz="2000" b="1" noProof="1">
                <a:solidFill>
                  <a:srgbClr val="0000FF"/>
                </a:solidFill>
              </a:rPr>
              <a:t>26,12%</a:t>
            </a:r>
            <a:r>
              <a:rPr lang="pt-BR" sz="2000" b="1" noProof="1"/>
              <a:t> + </a:t>
            </a:r>
            <a:r>
              <a:rPr lang="pt-BR" sz="2000" b="1" noProof="1">
                <a:solidFill>
                  <a:srgbClr val="0000FF"/>
                </a:solidFill>
              </a:rPr>
              <a:t>21,3%</a:t>
            </a:r>
            <a:r>
              <a:rPr lang="pt-BR" sz="2000" b="1" noProof="1"/>
              <a:t>] x 100</a:t>
            </a:r>
          </a:p>
          <a:p>
            <a:pPr marL="0" indent="0">
              <a:buNone/>
            </a:pPr>
            <a:r>
              <a:rPr lang="pt-BR" sz="2800" b="1" noProof="1">
                <a:solidFill>
                  <a:srgbClr val="FF0000"/>
                </a:solidFill>
              </a:rPr>
              <a:t>ORE = 65,22%</a:t>
            </a:r>
          </a:p>
        </p:txBody>
      </p:sp>
    </p:spTree>
    <p:extLst>
      <p:ext uri="{BB962C8B-B14F-4D97-AF65-F5344CB8AC3E}">
        <p14:creationId xmlns:p14="http://schemas.microsoft.com/office/powerpoint/2010/main" val="2010704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5C03928-851E-3E57-D92A-812131100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556" y="181469"/>
            <a:ext cx="7886681" cy="16749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pt-BR" sz="27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Planilha</a:t>
            </a:r>
            <a:r>
              <a:rPr kumimoji="0" lang="en-US" altLang="pt-BR" sz="27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de Dados para </a:t>
            </a:r>
            <a:r>
              <a:rPr kumimoji="0" lang="en-US" altLang="pt-BR" sz="27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Indicadores</a:t>
            </a:r>
            <a:r>
              <a:rPr kumimoji="0" lang="en-US" altLang="pt-BR" sz="27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de ORE: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br>
              <a:rPr kumimoji="0" lang="en-US" altLang="pt-BR" sz="27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kumimoji="0" lang="en-US" altLang="pt-BR" sz="2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78E870A-C42B-B627-1AAA-B49ACF8DADFD}"/>
              </a:ext>
            </a:extLst>
          </p:cNvPr>
          <p:cNvSpPr txBox="1"/>
          <p:nvPr/>
        </p:nvSpPr>
        <p:spPr>
          <a:xfrm>
            <a:off x="357027" y="3028991"/>
            <a:ext cx="8528556" cy="3647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</a:pPr>
            <a:r>
              <a:rPr lang="en-US" sz="1400" b="0" i="0" dirty="0" err="1">
                <a:effectLst/>
              </a:rPr>
              <a:t>Exemplo</a:t>
            </a:r>
            <a:r>
              <a:rPr lang="en-US" sz="1400" b="0" i="0" dirty="0">
                <a:effectLst/>
              </a:rPr>
              <a:t> de </a:t>
            </a:r>
            <a:r>
              <a:rPr lang="en-US" sz="1400" b="0" i="0" dirty="0" err="1">
                <a:effectLst/>
              </a:rPr>
              <a:t>cálculo</a:t>
            </a:r>
            <a:r>
              <a:rPr lang="en-US" sz="1400" b="0" i="0" dirty="0">
                <a:effectLst/>
              </a:rPr>
              <a:t> para </a:t>
            </a:r>
            <a:r>
              <a:rPr lang="en-US" sz="1400" b="0" i="0" dirty="0" err="1">
                <a:effectLst/>
              </a:rPr>
              <a:t>cada</a:t>
            </a:r>
            <a:r>
              <a:rPr lang="en-US" sz="1400" b="0" i="0" dirty="0">
                <a:effectLst/>
              </a:rPr>
              <a:t> </a:t>
            </a:r>
            <a:r>
              <a:rPr lang="en-US" sz="1400" b="0" i="0" dirty="0" err="1">
                <a:effectLst/>
              </a:rPr>
              <a:t>indicador</a:t>
            </a:r>
            <a:r>
              <a:rPr lang="en-US" sz="1400" b="0" i="0" dirty="0">
                <a:effectLst/>
              </a:rPr>
              <a:t>: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0" i="0" dirty="0">
              <a:effectLst/>
            </a:endParaRP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dirty="0" err="1">
                <a:effectLst/>
              </a:rPr>
              <a:t>Indicador</a:t>
            </a:r>
            <a:r>
              <a:rPr lang="en-US" sz="1400" b="0" i="0" dirty="0">
                <a:effectLst/>
              </a:rPr>
              <a:t> de </a:t>
            </a:r>
            <a:r>
              <a:rPr lang="en-US" sz="1400" b="0" i="0" dirty="0" err="1">
                <a:effectLst/>
              </a:rPr>
              <a:t>Disponibilidade</a:t>
            </a:r>
            <a:r>
              <a:rPr lang="en-US" sz="1400" b="0" i="0" dirty="0">
                <a:effectLst/>
              </a:rPr>
              <a:t>: </a:t>
            </a:r>
            <a:r>
              <a:rPr lang="en-US" sz="1400" b="0" i="0" dirty="0" err="1">
                <a:effectLst/>
              </a:rPr>
              <a:t>Disponibilidade</a:t>
            </a:r>
            <a:r>
              <a:rPr lang="en-US" sz="1400" b="0" i="0" dirty="0">
                <a:effectLst/>
              </a:rPr>
              <a:t> = (Tempo Total </a:t>
            </a:r>
            <a:r>
              <a:rPr lang="en-US" sz="1400" b="0" i="0" dirty="0" err="1">
                <a:effectLst/>
              </a:rPr>
              <a:t>Programado</a:t>
            </a:r>
            <a:r>
              <a:rPr lang="en-US" sz="1400" b="0" i="0" dirty="0">
                <a:effectLst/>
              </a:rPr>
              <a:t> - Tempo de </a:t>
            </a:r>
            <a:r>
              <a:rPr lang="en-US" sz="1400" b="0" i="0" dirty="0" err="1">
                <a:effectLst/>
              </a:rPr>
              <a:t>Inatividade</a:t>
            </a:r>
            <a:r>
              <a:rPr lang="en-US" sz="1400" b="0" i="0" dirty="0">
                <a:effectLst/>
              </a:rPr>
              <a:t> </a:t>
            </a:r>
            <a:r>
              <a:rPr lang="en-US" sz="1400" b="0" i="0" dirty="0" err="1">
                <a:effectLst/>
              </a:rPr>
              <a:t>Programada</a:t>
            </a:r>
            <a:r>
              <a:rPr lang="en-US" sz="1400" b="0" i="0" dirty="0">
                <a:effectLst/>
              </a:rPr>
              <a:t>) / Tempo Total </a:t>
            </a:r>
            <a:r>
              <a:rPr lang="en-US" sz="1400" b="0" i="0" dirty="0" err="1">
                <a:effectLst/>
              </a:rPr>
              <a:t>Programado</a:t>
            </a:r>
            <a:r>
              <a:rPr lang="en-US" sz="1400" b="0" i="0" dirty="0">
                <a:effectLst/>
              </a:rPr>
              <a:t> x 100% </a:t>
            </a:r>
          </a:p>
          <a:p>
            <a:pPr marL="228600" lvl="1" defTabSz="914400">
              <a:lnSpc>
                <a:spcPct val="120000"/>
              </a:lnSpc>
              <a:spcAft>
                <a:spcPts val="600"/>
              </a:spcAft>
            </a:pPr>
            <a:r>
              <a:rPr lang="en-US" sz="1400" b="0" i="0" dirty="0" err="1">
                <a:effectLst/>
              </a:rPr>
              <a:t>Exemplo</a:t>
            </a:r>
            <a:r>
              <a:rPr lang="en-US" sz="1400" b="0" i="0" dirty="0">
                <a:effectLst/>
              </a:rPr>
              <a:t>: Se </a:t>
            </a:r>
            <a:r>
              <a:rPr lang="en-US" sz="1400" b="0" i="0" dirty="0" err="1">
                <a:effectLst/>
              </a:rPr>
              <a:t>na</a:t>
            </a:r>
            <a:r>
              <a:rPr lang="en-US" sz="1400" b="0" i="0" dirty="0">
                <a:effectLst/>
              </a:rPr>
              <a:t> </a:t>
            </a:r>
            <a:r>
              <a:rPr lang="en-US" sz="1400" b="0" i="0" dirty="0" err="1">
                <a:effectLst/>
              </a:rPr>
              <a:t>Semana</a:t>
            </a:r>
            <a:r>
              <a:rPr lang="en-US" sz="1400" b="0" i="0" dirty="0">
                <a:effectLst/>
              </a:rPr>
              <a:t> 1, TTP = 40 horas e Tempo de </a:t>
            </a:r>
            <a:r>
              <a:rPr lang="en-US" sz="1400" b="0" i="0" dirty="0" err="1">
                <a:effectLst/>
              </a:rPr>
              <a:t>Inatividade</a:t>
            </a:r>
            <a:r>
              <a:rPr lang="en-US" sz="1400" b="0" i="0" dirty="0">
                <a:effectLst/>
              </a:rPr>
              <a:t> </a:t>
            </a:r>
            <a:r>
              <a:rPr lang="en-US" sz="1400" b="0" i="0" dirty="0" err="1">
                <a:effectLst/>
              </a:rPr>
              <a:t>Programada</a:t>
            </a:r>
            <a:r>
              <a:rPr lang="en-US" sz="1400" b="0" i="0" dirty="0">
                <a:effectLst/>
              </a:rPr>
              <a:t> = 5 horas: </a:t>
            </a:r>
            <a:r>
              <a:rPr lang="en-US" sz="1400" b="0" i="0" dirty="0" err="1">
                <a:effectLst/>
              </a:rPr>
              <a:t>Disponibilidade</a:t>
            </a:r>
            <a:r>
              <a:rPr lang="en-US" sz="1400" b="0" i="0" dirty="0">
                <a:effectLst/>
              </a:rPr>
              <a:t> = (40 horas - 5 horas) / 40 horas x 100% = 87,5%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0" i="0" dirty="0">
              <a:effectLst/>
            </a:endParaRP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dirty="0" err="1">
                <a:effectLst/>
              </a:rPr>
              <a:t>Indicador</a:t>
            </a:r>
            <a:r>
              <a:rPr lang="en-US" sz="1400" b="0" i="0" dirty="0">
                <a:effectLst/>
              </a:rPr>
              <a:t> de </a:t>
            </a:r>
            <a:r>
              <a:rPr lang="en-US" sz="1400" b="0" i="0" dirty="0" err="1">
                <a:effectLst/>
              </a:rPr>
              <a:t>Eficiência</a:t>
            </a:r>
            <a:r>
              <a:rPr lang="en-US" sz="1400" b="0" i="0" dirty="0">
                <a:effectLst/>
              </a:rPr>
              <a:t> do Tempo Total </a:t>
            </a:r>
            <a:r>
              <a:rPr lang="en-US" sz="1400" b="0" i="0" dirty="0" err="1">
                <a:effectLst/>
              </a:rPr>
              <a:t>Utilizado</a:t>
            </a:r>
            <a:r>
              <a:rPr lang="en-US" sz="1400" b="0" i="0" dirty="0">
                <a:effectLst/>
              </a:rPr>
              <a:t> (</a:t>
            </a:r>
            <a:r>
              <a:rPr lang="en-US" sz="1400" b="0" i="0" dirty="0" err="1">
                <a:effectLst/>
              </a:rPr>
              <a:t>TTUe</a:t>
            </a:r>
            <a:r>
              <a:rPr lang="en-US" sz="1400" b="0" i="0" dirty="0">
                <a:effectLst/>
              </a:rPr>
              <a:t>): </a:t>
            </a:r>
            <a:r>
              <a:rPr lang="en-US" sz="1400" b="0" i="0" dirty="0" err="1">
                <a:effectLst/>
              </a:rPr>
              <a:t>TTUe</a:t>
            </a:r>
            <a:r>
              <a:rPr lang="en-US" sz="1400" b="0" i="0" dirty="0">
                <a:effectLst/>
              </a:rPr>
              <a:t> = (Tempo de </a:t>
            </a:r>
            <a:r>
              <a:rPr lang="en-US" sz="1400" b="0" i="0" dirty="0" err="1">
                <a:effectLst/>
              </a:rPr>
              <a:t>Cirurgia</a:t>
            </a:r>
            <a:r>
              <a:rPr lang="en-US" sz="1400" b="0" i="0" dirty="0">
                <a:effectLst/>
              </a:rPr>
              <a:t> / Tempo Total </a:t>
            </a:r>
            <a:r>
              <a:rPr lang="en-US" sz="1400" b="0" i="0" dirty="0" err="1">
                <a:effectLst/>
              </a:rPr>
              <a:t>Utilizado</a:t>
            </a:r>
            <a:r>
              <a:rPr lang="en-US" sz="1400" b="0" i="0" dirty="0">
                <a:effectLst/>
              </a:rPr>
              <a:t>) x 100% </a:t>
            </a:r>
          </a:p>
          <a:p>
            <a:pPr marL="228600" lvl="1" defTabSz="914400">
              <a:lnSpc>
                <a:spcPct val="120000"/>
              </a:lnSpc>
              <a:spcAft>
                <a:spcPts val="600"/>
              </a:spcAft>
            </a:pPr>
            <a:r>
              <a:rPr lang="en-US" sz="1400" b="0" i="0" dirty="0" err="1">
                <a:effectLst/>
              </a:rPr>
              <a:t>Exemplo</a:t>
            </a:r>
            <a:r>
              <a:rPr lang="en-US" sz="1400" b="0" i="0" dirty="0">
                <a:effectLst/>
              </a:rPr>
              <a:t>: Se </a:t>
            </a:r>
            <a:r>
              <a:rPr lang="en-US" sz="1400" b="0" i="0" dirty="0" err="1">
                <a:effectLst/>
              </a:rPr>
              <a:t>na</a:t>
            </a:r>
            <a:r>
              <a:rPr lang="en-US" sz="1400" b="0" i="0" dirty="0">
                <a:effectLst/>
              </a:rPr>
              <a:t> </a:t>
            </a:r>
            <a:r>
              <a:rPr lang="en-US" sz="1400" b="0" i="0" dirty="0" err="1">
                <a:effectLst/>
              </a:rPr>
              <a:t>Semana</a:t>
            </a:r>
            <a:r>
              <a:rPr lang="en-US" sz="1400" b="0" i="0" dirty="0">
                <a:effectLst/>
              </a:rPr>
              <a:t> 1, Tempo de </a:t>
            </a:r>
            <a:r>
              <a:rPr lang="en-US" sz="1400" b="0" i="0" dirty="0" err="1">
                <a:effectLst/>
              </a:rPr>
              <a:t>Cirurgia</a:t>
            </a:r>
            <a:r>
              <a:rPr lang="en-US" sz="1400" b="0" i="0" dirty="0">
                <a:effectLst/>
              </a:rPr>
              <a:t> = 30 horas e TTU = 35 horas: </a:t>
            </a:r>
            <a:r>
              <a:rPr lang="en-US" sz="1400" b="0" i="0" dirty="0" err="1">
                <a:effectLst/>
              </a:rPr>
              <a:t>TTUe</a:t>
            </a:r>
            <a:r>
              <a:rPr lang="en-US" sz="1400" b="0" i="0" dirty="0">
                <a:effectLst/>
              </a:rPr>
              <a:t> = (30 horas / 35 horas) x 100% = 85,71%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0" i="0" dirty="0">
              <a:effectLst/>
            </a:endParaRP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dirty="0" err="1">
                <a:effectLst/>
              </a:rPr>
              <a:t>Indicador</a:t>
            </a:r>
            <a:r>
              <a:rPr lang="en-US" sz="1400" b="0" i="0" dirty="0">
                <a:effectLst/>
              </a:rPr>
              <a:t> de </a:t>
            </a:r>
            <a:r>
              <a:rPr lang="en-US" sz="1400" b="0" i="0" dirty="0" err="1">
                <a:effectLst/>
              </a:rPr>
              <a:t>Qualidade</a:t>
            </a:r>
            <a:r>
              <a:rPr lang="en-US" sz="1400" b="0" i="0" dirty="0">
                <a:effectLst/>
              </a:rPr>
              <a:t> do Tempo Total de </a:t>
            </a:r>
            <a:r>
              <a:rPr lang="en-US" sz="1400" b="0" i="0" dirty="0" err="1">
                <a:effectLst/>
              </a:rPr>
              <a:t>Agregação</a:t>
            </a:r>
            <a:r>
              <a:rPr lang="en-US" sz="1400" b="0" i="0" dirty="0">
                <a:effectLst/>
              </a:rPr>
              <a:t> de Valor (</a:t>
            </a:r>
            <a:r>
              <a:rPr lang="en-US" sz="1400" b="0" i="0" dirty="0" err="1">
                <a:effectLst/>
              </a:rPr>
              <a:t>TTAVq</a:t>
            </a:r>
            <a:r>
              <a:rPr lang="en-US" sz="1400" b="0" i="0" dirty="0">
                <a:effectLst/>
              </a:rPr>
              <a:t>): </a:t>
            </a:r>
            <a:r>
              <a:rPr lang="en-US" sz="1400" b="0" i="0" dirty="0" err="1">
                <a:effectLst/>
              </a:rPr>
              <a:t>TTAVq</a:t>
            </a:r>
            <a:r>
              <a:rPr lang="en-US" sz="1400" b="0" i="0" dirty="0">
                <a:effectLst/>
              </a:rPr>
              <a:t> = (Taxa de </a:t>
            </a:r>
            <a:r>
              <a:rPr lang="en-US" sz="1400" b="0" i="0" dirty="0" err="1">
                <a:effectLst/>
              </a:rPr>
              <a:t>Mortalidade</a:t>
            </a:r>
            <a:r>
              <a:rPr lang="en-US" sz="1400" b="0" i="0" dirty="0">
                <a:effectLst/>
              </a:rPr>
              <a:t> + Taxa de </a:t>
            </a:r>
            <a:r>
              <a:rPr lang="en-US" sz="1400" b="0" i="0" dirty="0" err="1">
                <a:effectLst/>
              </a:rPr>
              <a:t>Readmissão</a:t>
            </a:r>
            <a:r>
              <a:rPr lang="en-US" sz="1400" b="0" i="0" dirty="0">
                <a:effectLst/>
              </a:rPr>
              <a:t> + </a:t>
            </a:r>
            <a:r>
              <a:rPr lang="en-US" sz="1400" b="0" i="0" dirty="0" err="1">
                <a:effectLst/>
              </a:rPr>
              <a:t>Pontuação</a:t>
            </a:r>
            <a:r>
              <a:rPr lang="en-US" sz="1400" b="0" i="0" dirty="0">
                <a:effectLst/>
              </a:rPr>
              <a:t> de </a:t>
            </a:r>
            <a:r>
              <a:rPr lang="en-US" sz="1400" b="0" i="0" dirty="0" err="1">
                <a:effectLst/>
              </a:rPr>
              <a:t>Satisfação</a:t>
            </a:r>
            <a:r>
              <a:rPr lang="en-US" sz="1400" b="0" i="0" dirty="0">
                <a:effectLst/>
              </a:rPr>
              <a:t> do </a:t>
            </a:r>
            <a:r>
              <a:rPr lang="en-US" sz="1400" b="0" i="0" dirty="0" err="1">
                <a:effectLst/>
              </a:rPr>
              <a:t>Paciente</a:t>
            </a:r>
            <a:r>
              <a:rPr lang="en-US" sz="1400" b="0" i="0" dirty="0">
                <a:effectLst/>
              </a:rPr>
              <a:t>) / 3 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</a:pPr>
            <a:r>
              <a:rPr lang="en-US" sz="1400" b="0" i="0" dirty="0" err="1">
                <a:effectLst/>
              </a:rPr>
              <a:t>Exemplo</a:t>
            </a:r>
            <a:r>
              <a:rPr lang="en-US" sz="1400" b="0" i="0" dirty="0">
                <a:effectLst/>
              </a:rPr>
              <a:t>: Se </a:t>
            </a:r>
            <a:r>
              <a:rPr lang="en-US" sz="1400" b="0" i="0" dirty="0" err="1">
                <a:effectLst/>
              </a:rPr>
              <a:t>na</a:t>
            </a:r>
            <a:r>
              <a:rPr lang="en-US" sz="1400" b="0" i="0" dirty="0">
                <a:effectLst/>
              </a:rPr>
              <a:t> </a:t>
            </a:r>
            <a:r>
              <a:rPr lang="en-US" sz="1400" b="0" i="0" dirty="0" err="1">
                <a:effectLst/>
              </a:rPr>
              <a:t>Semana</a:t>
            </a:r>
            <a:r>
              <a:rPr lang="en-US" sz="1400" b="0" i="0" dirty="0">
                <a:effectLst/>
              </a:rPr>
              <a:t> 1, Taxa de </a:t>
            </a:r>
            <a:r>
              <a:rPr lang="en-US" sz="1400" b="0" i="0" dirty="0" err="1">
                <a:effectLst/>
              </a:rPr>
              <a:t>Mortalidade</a:t>
            </a:r>
            <a:r>
              <a:rPr lang="en-US" sz="1400" b="0" i="0" dirty="0">
                <a:effectLst/>
              </a:rPr>
              <a:t> = 2%, Taxa de </a:t>
            </a:r>
            <a:r>
              <a:rPr lang="en-US" sz="1400" b="0" i="0" dirty="0" err="1">
                <a:effectLst/>
              </a:rPr>
              <a:t>Readmissão</a:t>
            </a:r>
            <a:r>
              <a:rPr lang="en-US" sz="1400" b="0" i="0" dirty="0">
                <a:effectLst/>
              </a:rPr>
              <a:t> = 1%, e </a:t>
            </a:r>
            <a:r>
              <a:rPr lang="en-US" sz="1400" b="0" i="0" dirty="0" err="1">
                <a:effectLst/>
              </a:rPr>
              <a:t>Pontuação</a:t>
            </a:r>
            <a:r>
              <a:rPr lang="en-US" sz="1400" b="0" i="0" dirty="0">
                <a:effectLst/>
              </a:rPr>
              <a:t> de </a:t>
            </a:r>
            <a:r>
              <a:rPr lang="en-US" sz="1400" b="0" i="0" dirty="0" err="1">
                <a:effectLst/>
              </a:rPr>
              <a:t>Satisfação</a:t>
            </a:r>
            <a:r>
              <a:rPr lang="en-US" sz="1400" b="0" i="0" dirty="0">
                <a:effectLst/>
              </a:rPr>
              <a:t> do </a:t>
            </a:r>
            <a:r>
              <a:rPr lang="en-US" sz="1400" b="0" i="0" dirty="0" err="1">
                <a:effectLst/>
              </a:rPr>
              <a:t>Paciente</a:t>
            </a:r>
            <a:r>
              <a:rPr lang="en-US" sz="1400" b="0" i="0" dirty="0">
                <a:effectLst/>
              </a:rPr>
              <a:t> = 90/100: </a:t>
            </a:r>
            <a:r>
              <a:rPr lang="en-US" sz="1400" b="0" i="0" dirty="0" err="1">
                <a:effectLst/>
              </a:rPr>
              <a:t>TTAVq</a:t>
            </a:r>
            <a:r>
              <a:rPr lang="en-US" sz="1400" b="0" i="0" dirty="0">
                <a:effectLst/>
              </a:rPr>
              <a:t> = (2% + 1% + 90) / 3 = 31%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ADDA090-50FA-2254-6D39-D4C02809D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935753"/>
              </p:ext>
            </p:extLst>
          </p:nvPr>
        </p:nvGraphicFramePr>
        <p:xfrm>
          <a:off x="447069" y="1027577"/>
          <a:ext cx="7886682" cy="1774298"/>
        </p:xfrm>
        <a:graphic>
          <a:graphicData uri="http://schemas.openxmlformats.org/drawingml/2006/table">
            <a:tbl>
              <a:tblPr firstRow="1" bandRow="1"/>
              <a:tblGrid>
                <a:gridCol w="591008">
                  <a:extLst>
                    <a:ext uri="{9D8B030D-6E8A-4147-A177-3AD203B41FA5}">
                      <a16:colId xmlns:a16="http://schemas.microsoft.com/office/drawing/2014/main" val="3621581955"/>
                    </a:ext>
                  </a:extLst>
                </a:gridCol>
                <a:gridCol w="823228">
                  <a:extLst>
                    <a:ext uri="{9D8B030D-6E8A-4147-A177-3AD203B41FA5}">
                      <a16:colId xmlns:a16="http://schemas.microsoft.com/office/drawing/2014/main" val="1997910816"/>
                    </a:ext>
                  </a:extLst>
                </a:gridCol>
                <a:gridCol w="809568">
                  <a:extLst>
                    <a:ext uri="{9D8B030D-6E8A-4147-A177-3AD203B41FA5}">
                      <a16:colId xmlns:a16="http://schemas.microsoft.com/office/drawing/2014/main" val="1538215522"/>
                    </a:ext>
                  </a:extLst>
                </a:gridCol>
                <a:gridCol w="629256">
                  <a:extLst>
                    <a:ext uri="{9D8B030D-6E8A-4147-A177-3AD203B41FA5}">
                      <a16:colId xmlns:a16="http://schemas.microsoft.com/office/drawing/2014/main" val="3248216840"/>
                    </a:ext>
                  </a:extLst>
                </a:gridCol>
                <a:gridCol w="689360">
                  <a:extLst>
                    <a:ext uri="{9D8B030D-6E8A-4147-A177-3AD203B41FA5}">
                      <a16:colId xmlns:a16="http://schemas.microsoft.com/office/drawing/2014/main" val="3875525334"/>
                    </a:ext>
                  </a:extLst>
                </a:gridCol>
                <a:gridCol w="760392">
                  <a:extLst>
                    <a:ext uri="{9D8B030D-6E8A-4147-A177-3AD203B41FA5}">
                      <a16:colId xmlns:a16="http://schemas.microsoft.com/office/drawing/2014/main" val="1381000702"/>
                    </a:ext>
                  </a:extLst>
                </a:gridCol>
                <a:gridCol w="1093696">
                  <a:extLst>
                    <a:ext uri="{9D8B030D-6E8A-4147-A177-3AD203B41FA5}">
                      <a16:colId xmlns:a16="http://schemas.microsoft.com/office/drawing/2014/main" val="3680270500"/>
                    </a:ext>
                  </a:extLst>
                </a:gridCol>
                <a:gridCol w="786346">
                  <a:extLst>
                    <a:ext uri="{9D8B030D-6E8A-4147-A177-3AD203B41FA5}">
                      <a16:colId xmlns:a16="http://schemas.microsoft.com/office/drawing/2014/main" val="2117502633"/>
                    </a:ext>
                  </a:extLst>
                </a:gridCol>
                <a:gridCol w="815032">
                  <a:extLst>
                    <a:ext uri="{9D8B030D-6E8A-4147-A177-3AD203B41FA5}">
                      <a16:colId xmlns:a16="http://schemas.microsoft.com/office/drawing/2014/main" val="2420557854"/>
                    </a:ext>
                  </a:extLst>
                </a:gridCol>
                <a:gridCol w="888796">
                  <a:extLst>
                    <a:ext uri="{9D8B030D-6E8A-4147-A177-3AD203B41FA5}">
                      <a16:colId xmlns:a16="http://schemas.microsoft.com/office/drawing/2014/main" val="4126158090"/>
                    </a:ext>
                  </a:extLst>
                </a:gridCol>
              </a:tblGrid>
              <a:tr h="598674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 dirty="0">
                          <a:effectLst/>
                          <a:latin typeface="Arial" panose="020B0604020202020204" pitchFamily="34" charset="0"/>
                        </a:rPr>
                        <a:t>Semana</a:t>
                      </a:r>
                      <a:endParaRPr lang="pt-BR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 dirty="0">
                          <a:effectLst/>
                          <a:latin typeface="Arial" panose="020B0604020202020204" pitchFamily="34" charset="0"/>
                        </a:rPr>
                        <a:t>Tempo Total Programado (TTP)</a:t>
                      </a:r>
                      <a:endParaRPr lang="pt-BR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 dirty="0">
                          <a:effectLst/>
                          <a:latin typeface="Arial" panose="020B0604020202020204" pitchFamily="34" charset="0"/>
                        </a:rPr>
                        <a:t>Tempo de Inatividade Programada</a:t>
                      </a:r>
                      <a:endParaRPr lang="pt-BR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 dirty="0">
                          <a:effectLst/>
                          <a:latin typeface="Arial" panose="020B0604020202020204" pitchFamily="34" charset="0"/>
                        </a:rPr>
                        <a:t>Tempo Total Utilizado (TTU)</a:t>
                      </a:r>
                      <a:endParaRPr lang="pt-BR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 dirty="0">
                          <a:effectLst/>
                          <a:latin typeface="Arial" panose="020B0604020202020204" pitchFamily="34" charset="0"/>
                        </a:rPr>
                        <a:t>Tempo de Cirurgia</a:t>
                      </a:r>
                      <a:endParaRPr lang="pt-BR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 dirty="0">
                          <a:effectLst/>
                          <a:latin typeface="Arial" panose="020B0604020202020204" pitchFamily="34" charset="0"/>
                        </a:rPr>
                        <a:t>Tempo de preparação</a:t>
                      </a:r>
                      <a:endParaRPr lang="pt-BR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 dirty="0">
                          <a:effectLst/>
                          <a:latin typeface="Arial" panose="020B0604020202020204" pitchFamily="34" charset="0"/>
                        </a:rPr>
                        <a:t>Tempo de Recuperação Pós-Operatória</a:t>
                      </a:r>
                      <a:endParaRPr lang="pt-BR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 dirty="0">
                          <a:effectLst/>
                          <a:latin typeface="Arial" panose="020B0604020202020204" pitchFamily="34" charset="0"/>
                        </a:rPr>
                        <a:t>Taxa de Mortalidade</a:t>
                      </a:r>
                      <a:endParaRPr lang="pt-BR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>
                          <a:effectLst/>
                          <a:latin typeface="Arial" panose="020B0604020202020204" pitchFamily="34" charset="0"/>
                        </a:rPr>
                        <a:t>Taxa de Readmissão</a:t>
                      </a:r>
                      <a:endParaRPr lang="pt-BR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 dirty="0">
                          <a:effectLst/>
                          <a:latin typeface="Arial" panose="020B0604020202020204" pitchFamily="34" charset="0"/>
                        </a:rPr>
                        <a:t>Pontuação de Satisfação do Paciente</a:t>
                      </a:r>
                      <a:endParaRPr lang="pt-BR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843686"/>
                  </a:ext>
                </a:extLst>
              </a:tr>
              <a:tr h="205266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Semana 1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X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Y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Z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A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B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C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 dirty="0" err="1"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pt-BR" sz="900" b="0" i="0" u="none" strike="noStrike" dirty="0"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 dirty="0">
                          <a:effectLst/>
                          <a:latin typeface="Arial" panose="020B0604020202020204" pitchFamily="34" charset="0"/>
                        </a:rPr>
                        <a:t>E%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 dirty="0" err="1"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lang="pt-BR" sz="900" b="0" i="0" u="none" strike="noStrike" dirty="0">
                          <a:effectLst/>
                          <a:latin typeface="Arial" panose="020B0604020202020204" pitchFamily="34" charset="0"/>
                        </a:rPr>
                        <a:t>/100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038265"/>
                  </a:ext>
                </a:extLst>
              </a:tr>
              <a:tr h="205266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Semana 2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X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Y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Z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A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B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C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D%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E%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F/100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752128"/>
                  </a:ext>
                </a:extLst>
              </a:tr>
              <a:tr h="205266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149764"/>
                  </a:ext>
                </a:extLst>
              </a:tr>
              <a:tr h="336402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Semana 24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X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Y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Z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A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B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 dirty="0">
                          <a:effectLst/>
                          <a:latin typeface="Arial" panose="020B0604020202020204" pitchFamily="34" charset="0"/>
                        </a:rPr>
                        <a:t>C horas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D%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>
                          <a:effectLst/>
                          <a:latin typeface="Arial" panose="020B0604020202020204" pitchFamily="34" charset="0"/>
                        </a:rPr>
                        <a:t>E%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0" i="0" u="none" strike="noStrike" dirty="0" err="1"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lang="pt-BR" sz="900" b="0" i="0" u="none" strike="noStrike" dirty="0">
                          <a:effectLst/>
                          <a:latin typeface="Arial" panose="020B0604020202020204" pitchFamily="34" charset="0"/>
                        </a:rPr>
                        <a:t>/100</a:t>
                      </a:r>
                    </a:p>
                  </a:txBody>
                  <a:tcPr marL="42657" marR="42657" marT="21329" marB="21329" anchor="ctr">
                    <a:lnL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820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925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FC277C6-6585-639E-BB54-E35E52B35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511543"/>
              </p:ext>
            </p:extLst>
          </p:nvPr>
        </p:nvGraphicFramePr>
        <p:xfrm>
          <a:off x="346831" y="155775"/>
          <a:ext cx="8448052" cy="31440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48145">
                  <a:extLst>
                    <a:ext uri="{9D8B030D-6E8A-4147-A177-3AD203B41FA5}">
                      <a16:colId xmlns:a16="http://schemas.microsoft.com/office/drawing/2014/main" val="47689645"/>
                    </a:ext>
                  </a:extLst>
                </a:gridCol>
                <a:gridCol w="695749">
                  <a:extLst>
                    <a:ext uri="{9D8B030D-6E8A-4147-A177-3AD203B41FA5}">
                      <a16:colId xmlns:a16="http://schemas.microsoft.com/office/drawing/2014/main" val="57053838"/>
                    </a:ext>
                  </a:extLst>
                </a:gridCol>
                <a:gridCol w="890027">
                  <a:extLst>
                    <a:ext uri="{9D8B030D-6E8A-4147-A177-3AD203B41FA5}">
                      <a16:colId xmlns:a16="http://schemas.microsoft.com/office/drawing/2014/main" val="1835705488"/>
                    </a:ext>
                  </a:extLst>
                </a:gridCol>
                <a:gridCol w="695749">
                  <a:extLst>
                    <a:ext uri="{9D8B030D-6E8A-4147-A177-3AD203B41FA5}">
                      <a16:colId xmlns:a16="http://schemas.microsoft.com/office/drawing/2014/main" val="81462784"/>
                    </a:ext>
                  </a:extLst>
                </a:gridCol>
                <a:gridCol w="670000">
                  <a:extLst>
                    <a:ext uri="{9D8B030D-6E8A-4147-A177-3AD203B41FA5}">
                      <a16:colId xmlns:a16="http://schemas.microsoft.com/office/drawing/2014/main" val="2168044376"/>
                    </a:ext>
                  </a:extLst>
                </a:gridCol>
                <a:gridCol w="940889">
                  <a:extLst>
                    <a:ext uri="{9D8B030D-6E8A-4147-A177-3AD203B41FA5}">
                      <a16:colId xmlns:a16="http://schemas.microsoft.com/office/drawing/2014/main" val="1554091339"/>
                    </a:ext>
                  </a:extLst>
                </a:gridCol>
                <a:gridCol w="1040067">
                  <a:extLst>
                    <a:ext uri="{9D8B030D-6E8A-4147-A177-3AD203B41FA5}">
                      <a16:colId xmlns:a16="http://schemas.microsoft.com/office/drawing/2014/main" val="2818945672"/>
                    </a:ext>
                  </a:extLst>
                </a:gridCol>
                <a:gridCol w="962409">
                  <a:extLst>
                    <a:ext uri="{9D8B030D-6E8A-4147-A177-3AD203B41FA5}">
                      <a16:colId xmlns:a16="http://schemas.microsoft.com/office/drawing/2014/main" val="366434258"/>
                    </a:ext>
                  </a:extLst>
                </a:gridCol>
                <a:gridCol w="994221">
                  <a:extLst>
                    <a:ext uri="{9D8B030D-6E8A-4147-A177-3AD203B41FA5}">
                      <a16:colId xmlns:a16="http://schemas.microsoft.com/office/drawing/2014/main" val="1400821897"/>
                    </a:ext>
                  </a:extLst>
                </a:gridCol>
                <a:gridCol w="810796">
                  <a:extLst>
                    <a:ext uri="{9D8B030D-6E8A-4147-A177-3AD203B41FA5}">
                      <a16:colId xmlns:a16="http://schemas.microsoft.com/office/drawing/2014/main" val="1934166257"/>
                    </a:ext>
                  </a:extLst>
                </a:gridCol>
              </a:tblGrid>
              <a:tr h="693195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dirty="0">
                          <a:solidFill>
                            <a:srgbClr val="FFFFFF"/>
                          </a:solidFill>
                          <a:effectLst/>
                        </a:rPr>
                        <a:t>Semana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dirty="0">
                          <a:solidFill>
                            <a:srgbClr val="FFFFFF"/>
                          </a:solidFill>
                          <a:effectLst/>
                        </a:rPr>
                        <a:t>TTP (horas)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dirty="0">
                          <a:solidFill>
                            <a:srgbClr val="FFFFFF"/>
                          </a:solidFill>
                          <a:effectLst/>
                        </a:rPr>
                        <a:t>Inatividade programada (horas)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>
                          <a:solidFill>
                            <a:srgbClr val="FFFFFF"/>
                          </a:solidFill>
                          <a:effectLst/>
                        </a:rPr>
                        <a:t>TTU (horas)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dirty="0">
                          <a:solidFill>
                            <a:srgbClr val="FFFFFF"/>
                          </a:solidFill>
                          <a:effectLst/>
                        </a:rPr>
                        <a:t>Cirurgia (horas)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dirty="0">
                          <a:solidFill>
                            <a:srgbClr val="FFFFFF"/>
                          </a:solidFill>
                          <a:effectLst/>
                        </a:rPr>
                        <a:t>Preparação (horas)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dirty="0">
                          <a:solidFill>
                            <a:srgbClr val="FFFFFF"/>
                          </a:solidFill>
                          <a:effectLst/>
                        </a:rPr>
                        <a:t>Recuperação (horas)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>
                          <a:solidFill>
                            <a:srgbClr val="FFFFFF"/>
                          </a:solidFill>
                          <a:effectLst/>
                        </a:rPr>
                        <a:t>Mortalidade (%)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dirty="0">
                          <a:solidFill>
                            <a:srgbClr val="FFFFFF"/>
                          </a:solidFill>
                          <a:effectLst/>
                        </a:rPr>
                        <a:t>Readmissão (%)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dirty="0">
                          <a:solidFill>
                            <a:srgbClr val="FFFFFF"/>
                          </a:solidFill>
                          <a:effectLst/>
                        </a:rPr>
                        <a:t>Pontuação de Satisfação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6027"/>
                  </a:ext>
                </a:extLst>
              </a:tr>
              <a:tr h="430372"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Semana 1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40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5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35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30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1%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2%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90/100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219227"/>
                  </a:ext>
                </a:extLst>
              </a:tr>
              <a:tr h="430372"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Semana 2</a:t>
                      </a:r>
                    </a:p>
                  </a:txBody>
                  <a:tcPr marL="125780" marR="75468" marT="75468" marB="7546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38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34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28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0,5%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1,5%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85/100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99958"/>
                  </a:ext>
                </a:extLst>
              </a:tr>
              <a:tr h="430372"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Semana 3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42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6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36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32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1,2%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2,2%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92/100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27156"/>
                  </a:ext>
                </a:extLst>
              </a:tr>
              <a:tr h="430372"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Semana 4</a:t>
                      </a:r>
                    </a:p>
                  </a:txBody>
                  <a:tcPr marL="125780" marR="75468" marT="75468" marB="7546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39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36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30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1,5%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1,8%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88/100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247335"/>
                  </a:ext>
                </a:extLst>
              </a:tr>
              <a:tr h="298961"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...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...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...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...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...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...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...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...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...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...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71458"/>
                  </a:ext>
                </a:extLst>
              </a:tr>
              <a:tr h="430372"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Semana 24</a:t>
                      </a:r>
                    </a:p>
                  </a:txBody>
                  <a:tcPr marL="125780" marR="75468" marT="75468" marB="7546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41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37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31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1,8%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2,5%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86/100</a:t>
                      </a:r>
                    </a:p>
                  </a:txBody>
                  <a:tcPr marL="125780" marR="75468" marT="75468" marB="7546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840166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AAD5FACA-23C3-2D97-814A-B5D5C09CB282}"/>
              </a:ext>
            </a:extLst>
          </p:cNvPr>
          <p:cNvSpPr txBox="1"/>
          <p:nvPr/>
        </p:nvSpPr>
        <p:spPr>
          <a:xfrm>
            <a:off x="169173" y="3677478"/>
            <a:ext cx="84480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Semana 1: </a:t>
            </a:r>
          </a:p>
          <a:p>
            <a:pPr algn="l"/>
            <a:r>
              <a:rPr lang="pt-BR" dirty="0">
                <a:solidFill>
                  <a:srgbClr val="374151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Disponibilidade = (40 - 5) / 40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100% = 87,5% </a:t>
            </a:r>
          </a:p>
          <a:p>
            <a:pPr algn="l"/>
            <a:r>
              <a:rPr lang="pt-BR" dirty="0">
                <a:solidFill>
                  <a:srgbClr val="374151"/>
                </a:solidFill>
                <a:latin typeface="Söhne"/>
              </a:rPr>
              <a:t>	</a:t>
            </a:r>
            <a:r>
              <a:rPr lang="en-US" sz="1800" b="0" i="0" dirty="0">
                <a:effectLst/>
              </a:rPr>
              <a:t> </a:t>
            </a:r>
            <a:r>
              <a:rPr lang="en-US" sz="1800" b="0" i="0" dirty="0" err="1">
                <a:effectLst/>
              </a:rPr>
              <a:t>Indicador</a:t>
            </a:r>
            <a:r>
              <a:rPr lang="en-US" sz="1800" b="0" i="0" dirty="0">
                <a:effectLst/>
              </a:rPr>
              <a:t> de </a:t>
            </a:r>
            <a:r>
              <a:rPr lang="en-US" sz="1800" b="0" i="0" dirty="0" err="1">
                <a:effectLst/>
              </a:rPr>
              <a:t>Eficiência</a:t>
            </a:r>
            <a:r>
              <a:rPr lang="en-US" sz="1800" b="0" i="0" dirty="0">
                <a:effectLst/>
              </a:rPr>
              <a:t> do Tempo Total </a:t>
            </a:r>
            <a:r>
              <a:rPr lang="en-US" sz="1800" b="0" i="0" dirty="0" err="1">
                <a:effectLst/>
              </a:rPr>
              <a:t>Utilizado</a:t>
            </a:r>
            <a:r>
              <a:rPr lang="en-US" sz="1800" b="0" i="0" dirty="0">
                <a:effectLst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TTUe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= (30 / 35)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100% = 85,71% </a:t>
            </a:r>
          </a:p>
          <a:p>
            <a:pPr algn="l"/>
            <a:r>
              <a:rPr lang="pt-BR" dirty="0">
                <a:solidFill>
                  <a:srgbClr val="374151"/>
                </a:solidFill>
                <a:latin typeface="Söhne"/>
              </a:rPr>
              <a:t>	</a:t>
            </a:r>
            <a:r>
              <a:rPr lang="en-US" sz="1800" b="0" i="0" dirty="0">
                <a:effectLst/>
              </a:rPr>
              <a:t> </a:t>
            </a:r>
            <a:r>
              <a:rPr lang="en-US" sz="1800" b="0" i="0" dirty="0" err="1">
                <a:effectLst/>
              </a:rPr>
              <a:t>Indicador</a:t>
            </a:r>
            <a:r>
              <a:rPr lang="en-US" sz="1800" b="0" i="0" dirty="0">
                <a:effectLst/>
              </a:rPr>
              <a:t> de </a:t>
            </a:r>
            <a:r>
              <a:rPr lang="en-US" sz="1800" b="0" i="0" dirty="0" err="1">
                <a:effectLst/>
              </a:rPr>
              <a:t>Qualidade</a:t>
            </a:r>
            <a:r>
              <a:rPr lang="en-US" sz="1800" b="0" i="0" dirty="0">
                <a:effectLst/>
              </a:rPr>
              <a:t> do Tempo Total de </a:t>
            </a:r>
            <a:r>
              <a:rPr lang="en-US" sz="1800" b="0" i="0" dirty="0" err="1">
                <a:effectLst/>
              </a:rPr>
              <a:t>Agregação</a:t>
            </a:r>
            <a:r>
              <a:rPr lang="en-US" sz="1800" b="0" i="0" dirty="0">
                <a:effectLst/>
              </a:rPr>
              <a:t> de Valor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TTAVq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= (1% + 2% + 90) / 3 = 31%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Indicador ORE = (Disponibilidade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TTPe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0,2) +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TTUe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0,5) +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TTAVq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0,3) ORE = (87,5%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37,5%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0,2) + (85,71%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0,5) + (31%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x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0,3) = 51,14%</a:t>
            </a:r>
          </a:p>
        </p:txBody>
      </p:sp>
    </p:spTree>
    <p:extLst>
      <p:ext uri="{BB962C8B-B14F-4D97-AF65-F5344CB8AC3E}">
        <p14:creationId xmlns:p14="http://schemas.microsoft.com/office/powerpoint/2010/main" val="1458090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9373</TotalTime>
  <Words>2279</Words>
  <Application>Microsoft Macintosh PowerPoint</Application>
  <PresentationFormat>Apresentação na tela (4:3)</PresentationFormat>
  <Paragraphs>309</Paragraphs>
  <Slides>20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Söhne</vt:lpstr>
      <vt:lpstr>Office Theme</vt:lpstr>
      <vt:lpstr>INDOCADORES ORE</vt:lpstr>
      <vt:lpstr>Sobre os valores para implementação  (1/2)</vt:lpstr>
      <vt:lpstr>Sobre os valores para implementação  (1/2)</vt:lpstr>
      <vt:lpstr>Sobre os valores para implementação  (2/2)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Indicador ORE: (Operating Room Effectiveness)</vt:lpstr>
      <vt:lpstr>Apresentação do PowerPoint</vt:lpstr>
      <vt:lpstr>Apresentação do PowerPoint</vt:lpstr>
    </vt:vector>
  </TitlesOfParts>
  <Company>PUCPR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Edson Scalabrin</dc:creator>
  <cp:lastModifiedBy>Adans Pablo Carvalho</cp:lastModifiedBy>
  <cp:revision>291</cp:revision>
  <dcterms:created xsi:type="dcterms:W3CDTF">2023-02-22T10:53:23Z</dcterms:created>
  <dcterms:modified xsi:type="dcterms:W3CDTF">2023-05-04T18:25:47Z</dcterms:modified>
</cp:coreProperties>
</file>